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8288000" cy="10287000"/>
  <p:notesSz cx="6858000" cy="9144000"/>
  <p:embeddedFontLst>
    <p:embeddedFont>
      <p:font typeface="Calistoga" panose="020B0604020202020204" charset="0"/>
      <p:regular r:id="rId20"/>
    </p:embeddedFont>
    <p:embeddedFont>
      <p:font typeface="Canva Sans" panose="020B0604020202020204" charset="0"/>
      <p:regular r:id="rId21"/>
    </p:embeddedFont>
    <p:embeddedFont>
      <p:font typeface="Canva Sans Bold" panose="020B0604020202020204" charset="0"/>
      <p:regular r:id="rId22"/>
    </p:embeddedFont>
    <p:embeddedFont>
      <p:font typeface="Times New Roman Bold" panose="02020803070505020304" pitchFamily="18" charset="0"/>
      <p:regular r:id="rId23"/>
      <p:bold r:id="rId2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1" d="100"/>
          <a:sy n="51" d="100"/>
        </p:scale>
        <p:origin x="898" y="67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font" Target="fonts/font2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1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5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4.fntdata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3.fntdata"/><Relationship Id="rId27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11/21/2025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4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3.png"/><Relationship Id="rId10" Type="http://schemas.openxmlformats.org/officeDocument/2006/relationships/image" Target="../media/image7.png"/><Relationship Id="rId4" Type="http://schemas.openxmlformats.org/officeDocument/2006/relationships/image" Target="../media/image2.png"/><Relationship Id="rId9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4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3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4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3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4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3.png"/><Relationship Id="rId10" Type="http://schemas.openxmlformats.org/officeDocument/2006/relationships/image" Target="../media/image7.png"/><Relationship Id="rId4" Type="http://schemas.openxmlformats.org/officeDocument/2006/relationships/image" Target="../media/image2.png"/><Relationship Id="rId9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4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3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4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3.png"/><Relationship Id="rId10" Type="http://schemas.openxmlformats.org/officeDocument/2006/relationships/image" Target="../media/image7.png"/><Relationship Id="rId4" Type="http://schemas.openxmlformats.org/officeDocument/2006/relationships/image" Target="../media/image2.png"/><Relationship Id="rId9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4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3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4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3.png"/><Relationship Id="rId10" Type="http://schemas.openxmlformats.org/officeDocument/2006/relationships/image" Target="../media/image7.png"/><Relationship Id="rId4" Type="http://schemas.openxmlformats.org/officeDocument/2006/relationships/image" Target="../media/image2.png"/><Relationship Id="rId9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4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3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4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3.png"/><Relationship Id="rId10" Type="http://schemas.openxmlformats.org/officeDocument/2006/relationships/image" Target="../media/image7.png"/><Relationship Id="rId4" Type="http://schemas.openxmlformats.org/officeDocument/2006/relationships/image" Target="../media/image2.png"/><Relationship Id="rId9" Type="http://schemas.openxmlformats.org/officeDocument/2006/relationships/image" Target="../media/image18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4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3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4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3.png"/><Relationship Id="rId10" Type="http://schemas.openxmlformats.org/officeDocument/2006/relationships/image" Target="../media/image7.png"/><Relationship Id="rId4" Type="http://schemas.openxmlformats.org/officeDocument/2006/relationships/image" Target="../media/image2.png"/><Relationship Id="rId9" Type="http://schemas.openxmlformats.org/officeDocument/2006/relationships/image" Target="../media/image20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4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3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4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3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4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3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4.png"/><Relationship Id="rId7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10" Type="http://schemas.openxmlformats.org/officeDocument/2006/relationships/image" Target="../media/image7.png"/><Relationship Id="rId4" Type="http://schemas.openxmlformats.org/officeDocument/2006/relationships/image" Target="../media/image8.png"/><Relationship Id="rId9" Type="http://schemas.openxmlformats.org/officeDocument/2006/relationships/hyperlink" Target="https://colab.research.google.com/drive/1zt7uZJd0fQja4LL10oVrIg6fLCu7_SO0#scrollTo=emp6v86ThepL" TargetMode="Externa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4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423925" y="2904627"/>
            <a:ext cx="15440150" cy="4477747"/>
          </a:xfrm>
          <a:custGeom>
            <a:avLst/>
            <a:gdLst/>
            <a:ahLst/>
            <a:cxnLst/>
            <a:rect l="l" t="t" r="r" b="b"/>
            <a:pathLst>
              <a:path w="15440150" h="4477747">
                <a:moveTo>
                  <a:pt x="0" y="0"/>
                </a:moveTo>
                <a:lnTo>
                  <a:pt x="15440150" y="0"/>
                </a:lnTo>
                <a:lnTo>
                  <a:pt x="15440150" y="4477746"/>
                </a:lnTo>
                <a:lnTo>
                  <a:pt x="0" y="447774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5000"/>
            </a:blip>
            <a:stretch>
              <a:fillRect t="-41480" b="-88255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0" y="0"/>
            <a:ext cx="3177858" cy="1857375"/>
          </a:xfrm>
          <a:custGeom>
            <a:avLst/>
            <a:gdLst/>
            <a:ahLst/>
            <a:cxnLst/>
            <a:rect l="l" t="t" r="r" b="b"/>
            <a:pathLst>
              <a:path w="3177858" h="1857375">
                <a:moveTo>
                  <a:pt x="0" y="0"/>
                </a:moveTo>
                <a:lnTo>
                  <a:pt x="3177858" y="0"/>
                </a:lnTo>
                <a:lnTo>
                  <a:pt x="3177858" y="1857375"/>
                </a:lnTo>
                <a:lnTo>
                  <a:pt x="0" y="185737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19999"/>
            </a:blip>
            <a:stretch>
              <a:fillRect l="-41324" r="-344541" b="-453846"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4378954" y="0"/>
            <a:ext cx="3909046" cy="1643062"/>
          </a:xfrm>
          <a:custGeom>
            <a:avLst/>
            <a:gdLst/>
            <a:ahLst/>
            <a:cxnLst/>
            <a:rect l="l" t="t" r="r" b="b"/>
            <a:pathLst>
              <a:path w="3909046" h="1643062">
                <a:moveTo>
                  <a:pt x="0" y="0"/>
                </a:moveTo>
                <a:lnTo>
                  <a:pt x="3909046" y="0"/>
                </a:lnTo>
                <a:lnTo>
                  <a:pt x="3909046" y="1643062"/>
                </a:lnTo>
                <a:lnTo>
                  <a:pt x="0" y="164306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19999"/>
            </a:blip>
            <a:stretch>
              <a:fillRect l="-282445" r="-12539" b="-526086"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7671855" y="8229600"/>
            <a:ext cx="2713834" cy="2057400"/>
          </a:xfrm>
          <a:custGeom>
            <a:avLst/>
            <a:gdLst/>
            <a:ahLst/>
            <a:cxnLst/>
            <a:rect l="l" t="t" r="r" b="b"/>
            <a:pathLst>
              <a:path w="2713834" h="2057400">
                <a:moveTo>
                  <a:pt x="0" y="0"/>
                </a:moveTo>
                <a:lnTo>
                  <a:pt x="2713834" y="0"/>
                </a:lnTo>
                <a:lnTo>
                  <a:pt x="2713834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19999"/>
            </a:blip>
            <a:stretch>
              <a:fillRect l="-235788" t="-400000" r="-233154"/>
            </a:stretch>
          </a:blipFill>
        </p:spPr>
      </p:sp>
      <p:grpSp>
        <p:nvGrpSpPr>
          <p:cNvPr id="6" name="Group 6"/>
          <p:cNvGrpSpPr/>
          <p:nvPr/>
        </p:nvGrpSpPr>
        <p:grpSpPr>
          <a:xfrm>
            <a:off x="0" y="6829425"/>
            <a:ext cx="18288000" cy="3457575"/>
            <a:chOff x="0" y="0"/>
            <a:chExt cx="24384000" cy="4610100"/>
          </a:xfrm>
        </p:grpSpPr>
        <p:sp>
          <p:nvSpPr>
            <p:cNvPr id="7" name="Freeform 7"/>
            <p:cNvSpPr/>
            <p:nvPr/>
          </p:nvSpPr>
          <p:spPr>
            <a:xfrm>
              <a:off x="0" y="171450"/>
              <a:ext cx="2868509" cy="4438650"/>
            </a:xfrm>
            <a:custGeom>
              <a:avLst/>
              <a:gdLst/>
              <a:ahLst/>
              <a:cxnLst/>
              <a:rect l="l" t="t" r="r" b="b"/>
              <a:pathLst>
                <a:path w="2868509" h="4438650">
                  <a:moveTo>
                    <a:pt x="0" y="0"/>
                  </a:moveTo>
                  <a:lnTo>
                    <a:pt x="2868509" y="0"/>
                  </a:lnTo>
                  <a:lnTo>
                    <a:pt x="2868509" y="4438650"/>
                  </a:lnTo>
                  <a:lnTo>
                    <a:pt x="0" y="44386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alphaModFix amt="10999"/>
              </a:blip>
              <a:stretch>
                <a:fillRect l="-836" t="-209012" r="-616849"/>
              </a:stretch>
            </a:blipFill>
          </p:spPr>
        </p:sp>
        <p:sp>
          <p:nvSpPr>
            <p:cNvPr id="8" name="Freeform 8"/>
            <p:cNvSpPr/>
            <p:nvPr/>
          </p:nvSpPr>
          <p:spPr>
            <a:xfrm>
              <a:off x="21440498" y="0"/>
              <a:ext cx="2943502" cy="4610100"/>
            </a:xfrm>
            <a:custGeom>
              <a:avLst/>
              <a:gdLst/>
              <a:ahLst/>
              <a:cxnLst/>
              <a:rect l="l" t="t" r="r" b="b"/>
              <a:pathLst>
                <a:path w="2943502" h="4610100">
                  <a:moveTo>
                    <a:pt x="0" y="0"/>
                  </a:moveTo>
                  <a:lnTo>
                    <a:pt x="2943502" y="0"/>
                  </a:lnTo>
                  <a:lnTo>
                    <a:pt x="2943502" y="4610100"/>
                  </a:lnTo>
                  <a:lnTo>
                    <a:pt x="0" y="46101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>
                <a:alphaModFix amt="10999"/>
              </a:blip>
              <a:stretch>
                <a:fillRect l="-598564" t="-197520" r="-836"/>
              </a:stretch>
            </a:blipFill>
          </p:spPr>
        </p:sp>
      </p:grpSp>
      <p:sp>
        <p:nvSpPr>
          <p:cNvPr id="9" name="TextBox 9"/>
          <p:cNvSpPr txBox="1"/>
          <p:nvPr/>
        </p:nvSpPr>
        <p:spPr>
          <a:xfrm>
            <a:off x="2805767" y="866775"/>
            <a:ext cx="14058308" cy="274403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9758"/>
              </a:lnSpc>
            </a:pPr>
            <a:r>
              <a:rPr lang="en-US" sz="6970" u="sng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Data-Driven Content Strategy: </a:t>
            </a:r>
          </a:p>
          <a:p>
            <a:pPr algn="ctr">
              <a:lnSpc>
                <a:spcPts val="12198"/>
              </a:lnSpc>
              <a:spcBef>
                <a:spcPct val="0"/>
              </a:spcBef>
            </a:pPr>
            <a:r>
              <a:rPr lang="en-US" sz="8713" u="sng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Optimizing Netflix's Library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2594461" y="4499652"/>
            <a:ext cx="13099078" cy="12524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909"/>
              </a:lnSpc>
            </a:pPr>
            <a:r>
              <a:rPr lang="en-US" sz="3507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 Analysis of the Netflix Content Catalog</a:t>
            </a:r>
          </a:p>
          <a:p>
            <a:pPr algn="ctr">
              <a:lnSpc>
                <a:spcPts val="4909"/>
              </a:lnSpc>
              <a:spcBef>
                <a:spcPct val="0"/>
              </a:spcBef>
            </a:pPr>
            <a:r>
              <a:rPr lang="en-US" sz="3507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(Data Science Project)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6644953" y="6631398"/>
            <a:ext cx="4767637" cy="13971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484"/>
              </a:lnSpc>
            </a:pPr>
            <a:r>
              <a:rPr lang="en-US" sz="3917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Shagun Ratan</a:t>
            </a:r>
          </a:p>
          <a:p>
            <a:pPr algn="ctr">
              <a:lnSpc>
                <a:spcPts val="5484"/>
              </a:lnSpc>
              <a:spcBef>
                <a:spcPct val="0"/>
              </a:spcBef>
            </a:pPr>
            <a:r>
              <a:rPr lang="en-US" sz="3917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24201010140</a:t>
            </a:r>
          </a:p>
        </p:txBody>
      </p:sp>
      <p:sp>
        <p:nvSpPr>
          <p:cNvPr id="12" name="Freeform 12"/>
          <p:cNvSpPr/>
          <p:nvPr/>
        </p:nvSpPr>
        <p:spPr>
          <a:xfrm>
            <a:off x="0" y="2286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-11111" t="-48765" b="-48765"/>
            </a:stretch>
          </a:blipFill>
          <a:ln w="95250" cap="sq">
            <a:solidFill>
              <a:srgbClr val="E50A14"/>
            </a:solidFill>
            <a:prstDash val="solid"/>
            <a:miter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423925" y="2904627"/>
            <a:ext cx="15440150" cy="4477747"/>
          </a:xfrm>
          <a:custGeom>
            <a:avLst/>
            <a:gdLst/>
            <a:ahLst/>
            <a:cxnLst/>
            <a:rect l="l" t="t" r="r" b="b"/>
            <a:pathLst>
              <a:path w="15440150" h="4477747">
                <a:moveTo>
                  <a:pt x="0" y="0"/>
                </a:moveTo>
                <a:lnTo>
                  <a:pt x="15440150" y="0"/>
                </a:lnTo>
                <a:lnTo>
                  <a:pt x="15440150" y="4477746"/>
                </a:lnTo>
                <a:lnTo>
                  <a:pt x="0" y="447774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5000"/>
            </a:blip>
            <a:stretch>
              <a:fillRect t="-41480" b="-88255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7671855" y="8229600"/>
            <a:ext cx="2713834" cy="2057400"/>
          </a:xfrm>
          <a:custGeom>
            <a:avLst/>
            <a:gdLst/>
            <a:ahLst/>
            <a:cxnLst/>
            <a:rect l="l" t="t" r="r" b="b"/>
            <a:pathLst>
              <a:path w="2713834" h="2057400">
                <a:moveTo>
                  <a:pt x="0" y="0"/>
                </a:moveTo>
                <a:lnTo>
                  <a:pt x="2713834" y="0"/>
                </a:lnTo>
                <a:lnTo>
                  <a:pt x="2713834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19999"/>
            </a:blip>
            <a:stretch>
              <a:fillRect l="-235788" t="-400000" r="-233154"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0" y="0"/>
            <a:ext cx="3177858" cy="1857375"/>
          </a:xfrm>
          <a:custGeom>
            <a:avLst/>
            <a:gdLst/>
            <a:ahLst/>
            <a:cxnLst/>
            <a:rect l="l" t="t" r="r" b="b"/>
            <a:pathLst>
              <a:path w="3177858" h="1857375">
                <a:moveTo>
                  <a:pt x="0" y="0"/>
                </a:moveTo>
                <a:lnTo>
                  <a:pt x="3177858" y="0"/>
                </a:lnTo>
                <a:lnTo>
                  <a:pt x="3177858" y="1857375"/>
                </a:lnTo>
                <a:lnTo>
                  <a:pt x="0" y="185737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19999"/>
            </a:blip>
            <a:stretch>
              <a:fillRect l="-41324" r="-344541" b="-453846"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4378954" y="0"/>
            <a:ext cx="3909046" cy="1643062"/>
          </a:xfrm>
          <a:custGeom>
            <a:avLst/>
            <a:gdLst/>
            <a:ahLst/>
            <a:cxnLst/>
            <a:rect l="l" t="t" r="r" b="b"/>
            <a:pathLst>
              <a:path w="3909046" h="1643062">
                <a:moveTo>
                  <a:pt x="0" y="0"/>
                </a:moveTo>
                <a:lnTo>
                  <a:pt x="3909046" y="0"/>
                </a:lnTo>
                <a:lnTo>
                  <a:pt x="3909046" y="1643062"/>
                </a:lnTo>
                <a:lnTo>
                  <a:pt x="0" y="164306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25000"/>
            </a:blip>
            <a:stretch>
              <a:fillRect l="-282445" r="-12539" b="-526086"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0" y="6958012"/>
            <a:ext cx="2151382" cy="3328988"/>
          </a:xfrm>
          <a:custGeom>
            <a:avLst/>
            <a:gdLst/>
            <a:ahLst/>
            <a:cxnLst/>
            <a:rect l="l" t="t" r="r" b="b"/>
            <a:pathLst>
              <a:path w="2151382" h="3328988">
                <a:moveTo>
                  <a:pt x="0" y="0"/>
                </a:moveTo>
                <a:lnTo>
                  <a:pt x="2151382" y="0"/>
                </a:lnTo>
                <a:lnTo>
                  <a:pt x="2151382" y="3328988"/>
                </a:lnTo>
                <a:lnTo>
                  <a:pt x="0" y="332898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10999"/>
            </a:blip>
            <a:stretch>
              <a:fillRect l="-836" t="-209012" r="-616849"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6080373" y="6829425"/>
            <a:ext cx="2207627" cy="3457575"/>
          </a:xfrm>
          <a:custGeom>
            <a:avLst/>
            <a:gdLst/>
            <a:ahLst/>
            <a:cxnLst/>
            <a:rect l="l" t="t" r="r" b="b"/>
            <a:pathLst>
              <a:path w="2207627" h="3457575">
                <a:moveTo>
                  <a:pt x="0" y="0"/>
                </a:moveTo>
                <a:lnTo>
                  <a:pt x="2207627" y="0"/>
                </a:lnTo>
                <a:lnTo>
                  <a:pt x="2207627" y="3457575"/>
                </a:lnTo>
                <a:lnTo>
                  <a:pt x="0" y="3457575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alphaModFix amt="10999"/>
            </a:blip>
            <a:stretch>
              <a:fillRect l="-598564" t="-197520" r="-836"/>
            </a:stretch>
          </a:blipFill>
        </p:spPr>
      </p:sp>
      <p:graphicFrame>
        <p:nvGraphicFramePr>
          <p:cNvPr id="8" name="Table 8"/>
          <p:cNvGraphicFramePr>
            <a:graphicFrameLocks noGrp="1"/>
          </p:cNvGraphicFramePr>
          <p:nvPr/>
        </p:nvGraphicFramePr>
        <p:xfrm>
          <a:off x="863448" y="2904627"/>
          <a:ext cx="15392939" cy="6923231"/>
        </p:xfrm>
        <a:graphic>
          <a:graphicData uri="http://schemas.openxmlformats.org/drawingml/2006/table">
            <a:tbl>
              <a:tblPr/>
              <a:tblGrid>
                <a:gridCol w="4217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1752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699986"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D427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D427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D427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D427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D427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D427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D427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D427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13864"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D427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D427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D427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D427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D427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D427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D427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D427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09381"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D427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D427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D427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D427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D427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D427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D427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D427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pSp>
        <p:nvGrpSpPr>
          <p:cNvPr id="9" name="Group 9"/>
          <p:cNvGrpSpPr/>
          <p:nvPr/>
        </p:nvGrpSpPr>
        <p:grpSpPr>
          <a:xfrm>
            <a:off x="0" y="811753"/>
            <a:ext cx="15173668" cy="1281121"/>
            <a:chOff x="0" y="0"/>
            <a:chExt cx="20231558" cy="1708161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0231558" cy="1708161"/>
            </a:xfrm>
            <a:custGeom>
              <a:avLst/>
              <a:gdLst/>
              <a:ahLst/>
              <a:cxnLst/>
              <a:rect l="l" t="t" r="r" b="b"/>
              <a:pathLst>
                <a:path w="20231558" h="1708161">
                  <a:moveTo>
                    <a:pt x="0" y="0"/>
                  </a:moveTo>
                  <a:lnTo>
                    <a:pt x="20231558" y="0"/>
                  </a:lnTo>
                  <a:lnTo>
                    <a:pt x="20231558" y="1708161"/>
                  </a:lnTo>
                  <a:lnTo>
                    <a:pt x="0" y="170816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t="-14427" b="-148609"/>
              </a:stretch>
            </a:blipFill>
          </p:spPr>
        </p:sp>
        <p:sp>
          <p:nvSpPr>
            <p:cNvPr id="11" name="TextBox 11"/>
            <p:cNvSpPr txBox="1"/>
            <p:nvPr/>
          </p:nvSpPr>
          <p:spPr>
            <a:xfrm>
              <a:off x="869852" y="167018"/>
              <a:ext cx="15712067" cy="123125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7508"/>
                </a:lnSpc>
                <a:spcBef>
                  <a:spcPct val="0"/>
                </a:spcBef>
              </a:pPr>
              <a:r>
                <a:rPr lang="en-US" sz="5362" b="1" u="sng">
                  <a:solidFill>
                    <a:srgbClr val="FFFFFF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Data Exploration &amp; Cleaning Summary</a:t>
              </a:r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1576325" y="3338799"/>
            <a:ext cx="2599798" cy="8490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743"/>
              </a:lnSpc>
              <a:spcBef>
                <a:spcPct val="0"/>
              </a:spcBef>
            </a:pPr>
            <a:r>
              <a:rPr lang="en-US" sz="4817" u="sng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 Set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302512" y="5019675"/>
            <a:ext cx="3147423" cy="8490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743"/>
              </a:lnSpc>
              <a:spcBef>
                <a:spcPct val="0"/>
              </a:spcBef>
            </a:pPr>
            <a:r>
              <a:rPr lang="en-US" sz="4817" u="sng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 Quality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576325" y="7073804"/>
            <a:ext cx="2599798" cy="16965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743"/>
              </a:lnSpc>
              <a:spcBef>
                <a:spcPct val="0"/>
              </a:spcBef>
            </a:pPr>
            <a:r>
              <a:rPr lang="en-US" sz="4817" u="sng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Fix/Clean Actions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5661865" y="3031054"/>
            <a:ext cx="9882190" cy="14835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903"/>
              </a:lnSpc>
              <a:spcBef>
                <a:spcPct val="0"/>
              </a:spcBef>
            </a:pPr>
            <a:r>
              <a:rPr lang="en-US" sz="4217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Netflix Titles (Approx. 8,800 records, 12 columns).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5307427" y="6414567"/>
            <a:ext cx="10597065" cy="32908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49"/>
              </a:lnSpc>
              <a:spcBef>
                <a:spcPct val="0"/>
              </a:spcBef>
            </a:pPr>
            <a:r>
              <a:rPr lang="en-US" sz="3106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 Filling Missing Data: Used 'Unknown' for non-critical text fields. * Removing Incomplete Data: Dropped rows missing date_added or rating to ensure accurate trends. * Date Correction: Cleaned extra spaces in date fields (.str.strip()) to fix parsing errors. * Feature Preparation: Split duration into numeric minutes (Movies) and seasons (TV Shows).Visual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5840812" y="4711929"/>
            <a:ext cx="9882190" cy="14835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903"/>
              </a:lnSpc>
              <a:spcBef>
                <a:spcPct val="0"/>
              </a:spcBef>
            </a:pPr>
            <a:r>
              <a:rPr lang="en-US" sz="4217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Initial Check: Missing values in key fields (director, cast, country, date_added, rating).</a:t>
            </a:r>
          </a:p>
        </p:txBody>
      </p:sp>
      <p:grpSp>
        <p:nvGrpSpPr>
          <p:cNvPr id="18" name="Group 18"/>
          <p:cNvGrpSpPr/>
          <p:nvPr/>
        </p:nvGrpSpPr>
        <p:grpSpPr>
          <a:xfrm>
            <a:off x="12769455" y="0"/>
            <a:ext cx="4468656" cy="2904627"/>
            <a:chOff x="0" y="0"/>
            <a:chExt cx="5958209" cy="3872836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5958209" cy="3872836"/>
            </a:xfrm>
            <a:custGeom>
              <a:avLst/>
              <a:gdLst/>
              <a:ahLst/>
              <a:cxnLst/>
              <a:rect l="l" t="t" r="r" b="b"/>
              <a:pathLst>
                <a:path w="5958209" h="3872836">
                  <a:moveTo>
                    <a:pt x="0" y="0"/>
                  </a:moveTo>
                  <a:lnTo>
                    <a:pt x="5958209" y="0"/>
                  </a:lnTo>
                  <a:lnTo>
                    <a:pt x="5958209" y="3872836"/>
                  </a:lnTo>
                  <a:lnTo>
                    <a:pt x="0" y="387283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/>
              </a:stretch>
            </a:blipFill>
          </p:spPr>
        </p:sp>
        <p:sp>
          <p:nvSpPr>
            <p:cNvPr id="20" name="TextBox 20"/>
            <p:cNvSpPr txBox="1"/>
            <p:nvPr/>
          </p:nvSpPr>
          <p:spPr>
            <a:xfrm>
              <a:off x="2081462" y="533993"/>
              <a:ext cx="1790317" cy="29156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911"/>
                </a:lnSpc>
              </a:pPr>
              <a:r>
                <a:rPr lang="en-US" sz="1365" spc="-6">
                  <a:solidFill>
                    <a:srgbClr val="FFFFFF"/>
                  </a:solidFill>
                  <a:latin typeface="Calistoga"/>
                  <a:ea typeface="Calistoga"/>
                  <a:cs typeface="Calistoga"/>
                  <a:sym typeface="Calistoga"/>
                </a:rPr>
                <a:t>DATA CLEANING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028670" y="3322753"/>
              <a:ext cx="960261" cy="22714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489"/>
                </a:lnSpc>
              </a:pPr>
              <a:r>
                <a:rPr lang="en-US" sz="1064">
                  <a:solidFill>
                    <a:srgbClr val="FFFFFF"/>
                  </a:solidFill>
                  <a:latin typeface="Calistoga"/>
                  <a:ea typeface="Calistoga"/>
                  <a:cs typeface="Calistoga"/>
                  <a:sym typeface="Calistoga"/>
                </a:rPr>
                <a:t>RAW DATA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3884729" y="3308378"/>
              <a:ext cx="1139293" cy="23572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528"/>
                </a:lnSpc>
              </a:pPr>
              <a:r>
                <a:rPr lang="en-US" sz="1092" spc="4">
                  <a:solidFill>
                    <a:srgbClr val="FFFFFF"/>
                  </a:solidFill>
                  <a:latin typeface="Calistoga"/>
                  <a:ea typeface="Calistoga"/>
                  <a:cs typeface="Calistoga"/>
                  <a:sym typeface="Calistoga"/>
                </a:rPr>
                <a:t>CLEAN DATA</a:t>
              </a:r>
            </a:p>
          </p:txBody>
        </p:sp>
      </p:grpSp>
      <p:sp>
        <p:nvSpPr>
          <p:cNvPr id="23" name="Freeform 23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-11111" t="-48765" b="-48765"/>
            </a:stretch>
          </a:blipFill>
          <a:ln w="95250" cap="sq">
            <a:solidFill>
              <a:srgbClr val="E50A14"/>
            </a:solidFill>
            <a:prstDash val="solid"/>
            <a:miter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423925" y="2904627"/>
            <a:ext cx="15440150" cy="4477747"/>
          </a:xfrm>
          <a:custGeom>
            <a:avLst/>
            <a:gdLst/>
            <a:ahLst/>
            <a:cxnLst/>
            <a:rect l="l" t="t" r="r" b="b"/>
            <a:pathLst>
              <a:path w="15440150" h="4477747">
                <a:moveTo>
                  <a:pt x="0" y="0"/>
                </a:moveTo>
                <a:lnTo>
                  <a:pt x="15440150" y="0"/>
                </a:lnTo>
                <a:lnTo>
                  <a:pt x="15440150" y="4477746"/>
                </a:lnTo>
                <a:lnTo>
                  <a:pt x="0" y="447774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5000"/>
            </a:blip>
            <a:stretch>
              <a:fillRect t="-41480" b="-88255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7671855" y="8229600"/>
            <a:ext cx="2713834" cy="2057400"/>
          </a:xfrm>
          <a:custGeom>
            <a:avLst/>
            <a:gdLst/>
            <a:ahLst/>
            <a:cxnLst/>
            <a:rect l="l" t="t" r="r" b="b"/>
            <a:pathLst>
              <a:path w="2713834" h="2057400">
                <a:moveTo>
                  <a:pt x="0" y="0"/>
                </a:moveTo>
                <a:lnTo>
                  <a:pt x="2713834" y="0"/>
                </a:lnTo>
                <a:lnTo>
                  <a:pt x="2713834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19999"/>
            </a:blip>
            <a:stretch>
              <a:fillRect l="-235788" t="-400000" r="-233154"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0" y="0"/>
            <a:ext cx="3177858" cy="1857375"/>
          </a:xfrm>
          <a:custGeom>
            <a:avLst/>
            <a:gdLst/>
            <a:ahLst/>
            <a:cxnLst/>
            <a:rect l="l" t="t" r="r" b="b"/>
            <a:pathLst>
              <a:path w="3177858" h="1857375">
                <a:moveTo>
                  <a:pt x="0" y="0"/>
                </a:moveTo>
                <a:lnTo>
                  <a:pt x="3177858" y="0"/>
                </a:lnTo>
                <a:lnTo>
                  <a:pt x="3177858" y="1857375"/>
                </a:lnTo>
                <a:lnTo>
                  <a:pt x="0" y="185737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25000"/>
            </a:blip>
            <a:stretch>
              <a:fillRect l="-41324" r="-344541" b="-453846"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4378954" y="0"/>
            <a:ext cx="3909046" cy="1643062"/>
          </a:xfrm>
          <a:custGeom>
            <a:avLst/>
            <a:gdLst/>
            <a:ahLst/>
            <a:cxnLst/>
            <a:rect l="l" t="t" r="r" b="b"/>
            <a:pathLst>
              <a:path w="3909046" h="1643062">
                <a:moveTo>
                  <a:pt x="0" y="0"/>
                </a:moveTo>
                <a:lnTo>
                  <a:pt x="3909046" y="0"/>
                </a:lnTo>
                <a:lnTo>
                  <a:pt x="3909046" y="1643062"/>
                </a:lnTo>
                <a:lnTo>
                  <a:pt x="0" y="164306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25000"/>
            </a:blip>
            <a:stretch>
              <a:fillRect l="-282445" r="-12539" b="-526086"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0" y="6958012"/>
            <a:ext cx="2151382" cy="3328988"/>
          </a:xfrm>
          <a:custGeom>
            <a:avLst/>
            <a:gdLst/>
            <a:ahLst/>
            <a:cxnLst/>
            <a:rect l="l" t="t" r="r" b="b"/>
            <a:pathLst>
              <a:path w="2151382" h="3328988">
                <a:moveTo>
                  <a:pt x="0" y="0"/>
                </a:moveTo>
                <a:lnTo>
                  <a:pt x="2151382" y="0"/>
                </a:lnTo>
                <a:lnTo>
                  <a:pt x="2151382" y="3328988"/>
                </a:lnTo>
                <a:lnTo>
                  <a:pt x="0" y="332898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10999"/>
            </a:blip>
            <a:stretch>
              <a:fillRect l="-836" t="-209012" r="-616849"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6080373" y="6829425"/>
            <a:ext cx="2207627" cy="3457575"/>
          </a:xfrm>
          <a:custGeom>
            <a:avLst/>
            <a:gdLst/>
            <a:ahLst/>
            <a:cxnLst/>
            <a:rect l="l" t="t" r="r" b="b"/>
            <a:pathLst>
              <a:path w="2207627" h="3457575">
                <a:moveTo>
                  <a:pt x="0" y="0"/>
                </a:moveTo>
                <a:lnTo>
                  <a:pt x="2207627" y="0"/>
                </a:lnTo>
                <a:lnTo>
                  <a:pt x="2207627" y="3457575"/>
                </a:lnTo>
                <a:lnTo>
                  <a:pt x="0" y="3457575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alphaModFix amt="10999"/>
            </a:blip>
            <a:stretch>
              <a:fillRect l="-598564" t="-197520" r="-836"/>
            </a:stretch>
          </a:blipFill>
        </p:spPr>
      </p:sp>
      <p:grpSp>
        <p:nvGrpSpPr>
          <p:cNvPr id="8" name="Group 8"/>
          <p:cNvGrpSpPr/>
          <p:nvPr/>
        </p:nvGrpSpPr>
        <p:grpSpPr>
          <a:xfrm>
            <a:off x="177062" y="585148"/>
            <a:ext cx="14201891" cy="1272227"/>
            <a:chOff x="0" y="0"/>
            <a:chExt cx="18935855" cy="1696303"/>
          </a:xfrm>
        </p:grpSpPr>
        <p:sp>
          <p:nvSpPr>
            <p:cNvPr id="9" name="Freeform 9"/>
            <p:cNvSpPr/>
            <p:nvPr/>
          </p:nvSpPr>
          <p:spPr>
            <a:xfrm>
              <a:off x="361269" y="0"/>
              <a:ext cx="18574586" cy="1696303"/>
            </a:xfrm>
            <a:custGeom>
              <a:avLst/>
              <a:gdLst/>
              <a:ahLst/>
              <a:cxnLst/>
              <a:rect l="l" t="t" r="r" b="b"/>
              <a:pathLst>
                <a:path w="18574586" h="1696303">
                  <a:moveTo>
                    <a:pt x="0" y="0"/>
                  </a:moveTo>
                  <a:lnTo>
                    <a:pt x="18574586" y="0"/>
                  </a:lnTo>
                  <a:lnTo>
                    <a:pt x="18574586" y="1696303"/>
                  </a:lnTo>
                  <a:lnTo>
                    <a:pt x="0" y="169630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t="-9564" b="-133617"/>
              </a:stretch>
            </a:blipFill>
          </p:spPr>
        </p:sp>
        <p:sp>
          <p:nvSpPr>
            <p:cNvPr id="10" name="TextBox 10"/>
            <p:cNvSpPr txBox="1"/>
            <p:nvPr/>
          </p:nvSpPr>
          <p:spPr>
            <a:xfrm>
              <a:off x="0" y="167018"/>
              <a:ext cx="14425243" cy="123125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7508"/>
                </a:lnSpc>
                <a:spcBef>
                  <a:spcPct val="0"/>
                </a:spcBef>
              </a:pPr>
              <a:r>
                <a:rPr lang="en-US" sz="5362" b="1" u="sng">
                  <a:solidFill>
                    <a:srgbClr val="FFFFFF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Content &amp; Format Strategy</a:t>
              </a:r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601619" y="2133330"/>
            <a:ext cx="16854306" cy="76309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743"/>
              </a:lnSpc>
              <a:spcBef>
                <a:spcPct val="0"/>
              </a:spcBef>
            </a:pPr>
            <a:r>
              <a:rPr lang="en-US" sz="4817" b="1" u="sng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Key Points</a:t>
            </a:r>
            <a:r>
              <a:rPr lang="en-US" sz="4817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</a:t>
            </a:r>
          </a:p>
          <a:p>
            <a:pPr algn="l">
              <a:lnSpc>
                <a:spcPts val="6743"/>
              </a:lnSpc>
              <a:spcBef>
                <a:spcPct val="0"/>
              </a:spcBef>
            </a:pPr>
            <a:r>
              <a:rPr lang="en-US" sz="4817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— Library is 70% Movies, only 30% TV Shows.</a:t>
            </a:r>
          </a:p>
          <a:p>
            <a:pPr algn="l">
              <a:lnSpc>
                <a:spcPts val="6743"/>
              </a:lnSpc>
              <a:spcBef>
                <a:spcPct val="0"/>
              </a:spcBef>
            </a:pPr>
            <a:r>
              <a:rPr lang="en-US" sz="4817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— High-risk TV-MA content is mainly in TV Shows.</a:t>
            </a:r>
          </a:p>
          <a:p>
            <a:pPr algn="l">
              <a:lnSpc>
                <a:spcPts val="6743"/>
              </a:lnSpc>
              <a:spcBef>
                <a:spcPct val="0"/>
              </a:spcBef>
            </a:pPr>
            <a:r>
              <a:rPr lang="en-US" sz="4817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— Movie length is stable (90-100 min) .</a:t>
            </a:r>
          </a:p>
          <a:p>
            <a:pPr algn="l">
              <a:lnSpc>
                <a:spcPts val="6743"/>
              </a:lnSpc>
              <a:spcBef>
                <a:spcPct val="0"/>
              </a:spcBef>
            </a:pPr>
            <a:endParaRPr lang="en-US" sz="4817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algn="l">
              <a:lnSpc>
                <a:spcPts val="6743"/>
              </a:lnSpc>
              <a:spcBef>
                <a:spcPct val="0"/>
              </a:spcBef>
            </a:pPr>
            <a:r>
              <a:rPr lang="en-US" sz="4817" b="1" u="sng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Recommendation</a:t>
            </a:r>
            <a:r>
              <a:rPr lang="en-US" sz="4817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</a:t>
            </a:r>
          </a:p>
          <a:p>
            <a:pPr algn="l">
              <a:lnSpc>
                <a:spcPts val="6743"/>
              </a:lnSpc>
              <a:spcBef>
                <a:spcPct val="0"/>
              </a:spcBef>
            </a:pPr>
            <a:r>
              <a:rPr lang="en-US" sz="4817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— </a:t>
            </a:r>
            <a:r>
              <a:rPr lang="en-US" sz="4817" u="sng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Balance the Mix</a:t>
            </a:r>
            <a:r>
              <a:rPr lang="en-US" sz="4817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Make more TV Shows to encourage binge-watching.</a:t>
            </a:r>
          </a:p>
          <a:p>
            <a:pPr algn="l">
              <a:lnSpc>
                <a:spcPts val="6743"/>
              </a:lnSpc>
              <a:spcBef>
                <a:spcPct val="0"/>
              </a:spcBef>
            </a:pPr>
            <a:r>
              <a:rPr lang="en-US" sz="4817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— </a:t>
            </a:r>
            <a:r>
              <a:rPr lang="en-US" sz="4817" u="sng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New Format</a:t>
            </a:r>
            <a:r>
              <a:rPr lang="en-US" sz="4817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Test 80-minute "snackable" films for mobile users</a:t>
            </a:r>
          </a:p>
        </p:txBody>
      </p:sp>
      <p:sp>
        <p:nvSpPr>
          <p:cNvPr id="12" name="Freeform 1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-11111" t="-48765" b="-48765"/>
            </a:stretch>
          </a:blipFill>
          <a:ln w="95250" cap="sq">
            <a:solidFill>
              <a:srgbClr val="E50A14"/>
            </a:solidFill>
            <a:prstDash val="solid"/>
            <a:miter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423925" y="2904627"/>
            <a:ext cx="15440150" cy="4477747"/>
          </a:xfrm>
          <a:custGeom>
            <a:avLst/>
            <a:gdLst/>
            <a:ahLst/>
            <a:cxnLst/>
            <a:rect l="l" t="t" r="r" b="b"/>
            <a:pathLst>
              <a:path w="15440150" h="4477747">
                <a:moveTo>
                  <a:pt x="0" y="0"/>
                </a:moveTo>
                <a:lnTo>
                  <a:pt x="15440150" y="0"/>
                </a:lnTo>
                <a:lnTo>
                  <a:pt x="15440150" y="4477746"/>
                </a:lnTo>
                <a:lnTo>
                  <a:pt x="0" y="447774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5000"/>
            </a:blip>
            <a:stretch>
              <a:fillRect t="-41480" b="-88255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7671855" y="8229600"/>
            <a:ext cx="2713834" cy="2057400"/>
          </a:xfrm>
          <a:custGeom>
            <a:avLst/>
            <a:gdLst/>
            <a:ahLst/>
            <a:cxnLst/>
            <a:rect l="l" t="t" r="r" b="b"/>
            <a:pathLst>
              <a:path w="2713834" h="2057400">
                <a:moveTo>
                  <a:pt x="0" y="0"/>
                </a:moveTo>
                <a:lnTo>
                  <a:pt x="2713834" y="0"/>
                </a:lnTo>
                <a:lnTo>
                  <a:pt x="2713834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19999"/>
            </a:blip>
            <a:stretch>
              <a:fillRect l="-235788" t="-400000" r="-233154"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0" y="0"/>
            <a:ext cx="3177858" cy="1857375"/>
          </a:xfrm>
          <a:custGeom>
            <a:avLst/>
            <a:gdLst/>
            <a:ahLst/>
            <a:cxnLst/>
            <a:rect l="l" t="t" r="r" b="b"/>
            <a:pathLst>
              <a:path w="3177858" h="1857375">
                <a:moveTo>
                  <a:pt x="0" y="0"/>
                </a:moveTo>
                <a:lnTo>
                  <a:pt x="3177858" y="0"/>
                </a:lnTo>
                <a:lnTo>
                  <a:pt x="3177858" y="1857375"/>
                </a:lnTo>
                <a:lnTo>
                  <a:pt x="0" y="185737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25000"/>
            </a:blip>
            <a:stretch>
              <a:fillRect l="-41324" r="-344541" b="-453846"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4378954" y="0"/>
            <a:ext cx="3909046" cy="1643062"/>
          </a:xfrm>
          <a:custGeom>
            <a:avLst/>
            <a:gdLst/>
            <a:ahLst/>
            <a:cxnLst/>
            <a:rect l="l" t="t" r="r" b="b"/>
            <a:pathLst>
              <a:path w="3909046" h="1643062">
                <a:moveTo>
                  <a:pt x="0" y="0"/>
                </a:moveTo>
                <a:lnTo>
                  <a:pt x="3909046" y="0"/>
                </a:lnTo>
                <a:lnTo>
                  <a:pt x="3909046" y="1643062"/>
                </a:lnTo>
                <a:lnTo>
                  <a:pt x="0" y="164306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25000"/>
            </a:blip>
            <a:stretch>
              <a:fillRect l="-282445" r="-12539" b="-526086"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0" y="6958012"/>
            <a:ext cx="2151382" cy="3328988"/>
          </a:xfrm>
          <a:custGeom>
            <a:avLst/>
            <a:gdLst/>
            <a:ahLst/>
            <a:cxnLst/>
            <a:rect l="l" t="t" r="r" b="b"/>
            <a:pathLst>
              <a:path w="2151382" h="3328988">
                <a:moveTo>
                  <a:pt x="0" y="0"/>
                </a:moveTo>
                <a:lnTo>
                  <a:pt x="2151382" y="0"/>
                </a:lnTo>
                <a:lnTo>
                  <a:pt x="2151382" y="3328988"/>
                </a:lnTo>
                <a:lnTo>
                  <a:pt x="0" y="332898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10999"/>
            </a:blip>
            <a:stretch>
              <a:fillRect l="-836" t="-209012" r="-616849"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6080373" y="6829425"/>
            <a:ext cx="2207627" cy="3457575"/>
          </a:xfrm>
          <a:custGeom>
            <a:avLst/>
            <a:gdLst/>
            <a:ahLst/>
            <a:cxnLst/>
            <a:rect l="l" t="t" r="r" b="b"/>
            <a:pathLst>
              <a:path w="2207627" h="3457575">
                <a:moveTo>
                  <a:pt x="0" y="0"/>
                </a:moveTo>
                <a:lnTo>
                  <a:pt x="2207627" y="0"/>
                </a:lnTo>
                <a:lnTo>
                  <a:pt x="2207627" y="3457575"/>
                </a:lnTo>
                <a:lnTo>
                  <a:pt x="0" y="3457575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alphaModFix amt="10999"/>
            </a:blip>
            <a:stretch>
              <a:fillRect l="-598564" t="-197520" r="-836"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4005241" y="511247"/>
            <a:ext cx="10277518" cy="9264506"/>
          </a:xfrm>
          <a:custGeom>
            <a:avLst/>
            <a:gdLst/>
            <a:ahLst/>
            <a:cxnLst/>
            <a:rect l="l" t="t" r="r" b="b"/>
            <a:pathLst>
              <a:path w="10277518" h="9264506">
                <a:moveTo>
                  <a:pt x="0" y="0"/>
                </a:moveTo>
                <a:lnTo>
                  <a:pt x="10277518" y="0"/>
                </a:lnTo>
                <a:lnTo>
                  <a:pt x="10277518" y="9264506"/>
                </a:lnTo>
                <a:lnTo>
                  <a:pt x="0" y="9264506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t="-804"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-11111" t="-48765" b="-48765"/>
            </a:stretch>
          </a:blipFill>
          <a:ln w="95250" cap="sq">
            <a:solidFill>
              <a:srgbClr val="E50A14"/>
            </a:solidFill>
            <a:prstDash val="solid"/>
            <a:miter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423925" y="2904627"/>
            <a:ext cx="15440150" cy="4477747"/>
          </a:xfrm>
          <a:custGeom>
            <a:avLst/>
            <a:gdLst/>
            <a:ahLst/>
            <a:cxnLst/>
            <a:rect l="l" t="t" r="r" b="b"/>
            <a:pathLst>
              <a:path w="15440150" h="4477747">
                <a:moveTo>
                  <a:pt x="0" y="0"/>
                </a:moveTo>
                <a:lnTo>
                  <a:pt x="15440150" y="0"/>
                </a:lnTo>
                <a:lnTo>
                  <a:pt x="15440150" y="4477746"/>
                </a:lnTo>
                <a:lnTo>
                  <a:pt x="0" y="447774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5000"/>
            </a:blip>
            <a:stretch>
              <a:fillRect t="-41480" b="-88255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7671855" y="8229600"/>
            <a:ext cx="2713834" cy="2057400"/>
          </a:xfrm>
          <a:custGeom>
            <a:avLst/>
            <a:gdLst/>
            <a:ahLst/>
            <a:cxnLst/>
            <a:rect l="l" t="t" r="r" b="b"/>
            <a:pathLst>
              <a:path w="2713834" h="2057400">
                <a:moveTo>
                  <a:pt x="0" y="0"/>
                </a:moveTo>
                <a:lnTo>
                  <a:pt x="2713834" y="0"/>
                </a:lnTo>
                <a:lnTo>
                  <a:pt x="2713834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19999"/>
            </a:blip>
            <a:stretch>
              <a:fillRect l="-235788" t="-400000" r="-233154"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0" y="0"/>
            <a:ext cx="3177858" cy="1857375"/>
          </a:xfrm>
          <a:custGeom>
            <a:avLst/>
            <a:gdLst/>
            <a:ahLst/>
            <a:cxnLst/>
            <a:rect l="l" t="t" r="r" b="b"/>
            <a:pathLst>
              <a:path w="3177858" h="1857375">
                <a:moveTo>
                  <a:pt x="0" y="0"/>
                </a:moveTo>
                <a:lnTo>
                  <a:pt x="3177858" y="0"/>
                </a:lnTo>
                <a:lnTo>
                  <a:pt x="3177858" y="1857375"/>
                </a:lnTo>
                <a:lnTo>
                  <a:pt x="0" y="185737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25000"/>
            </a:blip>
            <a:stretch>
              <a:fillRect l="-41324" r="-344541" b="-453846"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4378954" y="0"/>
            <a:ext cx="3909046" cy="1643062"/>
          </a:xfrm>
          <a:custGeom>
            <a:avLst/>
            <a:gdLst/>
            <a:ahLst/>
            <a:cxnLst/>
            <a:rect l="l" t="t" r="r" b="b"/>
            <a:pathLst>
              <a:path w="3909046" h="1643062">
                <a:moveTo>
                  <a:pt x="0" y="0"/>
                </a:moveTo>
                <a:lnTo>
                  <a:pt x="3909046" y="0"/>
                </a:lnTo>
                <a:lnTo>
                  <a:pt x="3909046" y="1643062"/>
                </a:lnTo>
                <a:lnTo>
                  <a:pt x="0" y="164306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25000"/>
            </a:blip>
            <a:stretch>
              <a:fillRect l="-282445" r="-12539" b="-526086"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0" y="6958012"/>
            <a:ext cx="2151382" cy="3328988"/>
          </a:xfrm>
          <a:custGeom>
            <a:avLst/>
            <a:gdLst/>
            <a:ahLst/>
            <a:cxnLst/>
            <a:rect l="l" t="t" r="r" b="b"/>
            <a:pathLst>
              <a:path w="2151382" h="3328988">
                <a:moveTo>
                  <a:pt x="0" y="0"/>
                </a:moveTo>
                <a:lnTo>
                  <a:pt x="2151382" y="0"/>
                </a:lnTo>
                <a:lnTo>
                  <a:pt x="2151382" y="3328988"/>
                </a:lnTo>
                <a:lnTo>
                  <a:pt x="0" y="332898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10999"/>
            </a:blip>
            <a:stretch>
              <a:fillRect l="-836" t="-209012" r="-616849"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6080373" y="6829425"/>
            <a:ext cx="2207627" cy="3457575"/>
          </a:xfrm>
          <a:custGeom>
            <a:avLst/>
            <a:gdLst/>
            <a:ahLst/>
            <a:cxnLst/>
            <a:rect l="l" t="t" r="r" b="b"/>
            <a:pathLst>
              <a:path w="2207627" h="3457575">
                <a:moveTo>
                  <a:pt x="0" y="0"/>
                </a:moveTo>
                <a:lnTo>
                  <a:pt x="2207627" y="0"/>
                </a:lnTo>
                <a:lnTo>
                  <a:pt x="2207627" y="3457575"/>
                </a:lnTo>
                <a:lnTo>
                  <a:pt x="0" y="3457575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alphaModFix amt="10999"/>
            </a:blip>
            <a:stretch>
              <a:fillRect l="-598564" t="-197520" r="-836"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387115" y="2599165"/>
            <a:ext cx="8359211" cy="5088670"/>
          </a:xfrm>
          <a:custGeom>
            <a:avLst/>
            <a:gdLst/>
            <a:ahLst/>
            <a:cxnLst/>
            <a:rect l="l" t="t" r="r" b="b"/>
            <a:pathLst>
              <a:path w="8359211" h="5088670">
                <a:moveTo>
                  <a:pt x="0" y="0"/>
                </a:moveTo>
                <a:lnTo>
                  <a:pt x="8359212" y="0"/>
                </a:lnTo>
                <a:lnTo>
                  <a:pt x="8359212" y="5088670"/>
                </a:lnTo>
                <a:lnTo>
                  <a:pt x="0" y="508867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9795733" y="2599165"/>
            <a:ext cx="8045328" cy="5088670"/>
          </a:xfrm>
          <a:custGeom>
            <a:avLst/>
            <a:gdLst/>
            <a:ahLst/>
            <a:cxnLst/>
            <a:rect l="l" t="t" r="r" b="b"/>
            <a:pathLst>
              <a:path w="8045328" h="5088670">
                <a:moveTo>
                  <a:pt x="0" y="0"/>
                </a:moveTo>
                <a:lnTo>
                  <a:pt x="8045328" y="0"/>
                </a:lnTo>
                <a:lnTo>
                  <a:pt x="8045328" y="5088670"/>
                </a:lnTo>
                <a:lnTo>
                  <a:pt x="0" y="508867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-11111" t="-48765" b="-48765"/>
            </a:stretch>
          </a:blipFill>
          <a:ln w="95250" cap="sq">
            <a:solidFill>
              <a:srgbClr val="E50A14"/>
            </a:solidFill>
            <a:prstDash val="solid"/>
            <a:miter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423925" y="2904627"/>
            <a:ext cx="15440150" cy="4477747"/>
          </a:xfrm>
          <a:custGeom>
            <a:avLst/>
            <a:gdLst/>
            <a:ahLst/>
            <a:cxnLst/>
            <a:rect l="l" t="t" r="r" b="b"/>
            <a:pathLst>
              <a:path w="15440150" h="4477747">
                <a:moveTo>
                  <a:pt x="0" y="0"/>
                </a:moveTo>
                <a:lnTo>
                  <a:pt x="15440150" y="0"/>
                </a:lnTo>
                <a:lnTo>
                  <a:pt x="15440150" y="4477746"/>
                </a:lnTo>
                <a:lnTo>
                  <a:pt x="0" y="447774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5000"/>
            </a:blip>
            <a:stretch>
              <a:fillRect t="-41480" b="-88255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7671855" y="8229600"/>
            <a:ext cx="2713834" cy="2057400"/>
          </a:xfrm>
          <a:custGeom>
            <a:avLst/>
            <a:gdLst/>
            <a:ahLst/>
            <a:cxnLst/>
            <a:rect l="l" t="t" r="r" b="b"/>
            <a:pathLst>
              <a:path w="2713834" h="2057400">
                <a:moveTo>
                  <a:pt x="0" y="0"/>
                </a:moveTo>
                <a:lnTo>
                  <a:pt x="2713834" y="0"/>
                </a:lnTo>
                <a:lnTo>
                  <a:pt x="2713834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19999"/>
            </a:blip>
            <a:stretch>
              <a:fillRect l="-235788" t="-400000" r="-233154"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0" y="0"/>
            <a:ext cx="3177858" cy="1857375"/>
          </a:xfrm>
          <a:custGeom>
            <a:avLst/>
            <a:gdLst/>
            <a:ahLst/>
            <a:cxnLst/>
            <a:rect l="l" t="t" r="r" b="b"/>
            <a:pathLst>
              <a:path w="3177858" h="1857375">
                <a:moveTo>
                  <a:pt x="0" y="0"/>
                </a:moveTo>
                <a:lnTo>
                  <a:pt x="3177858" y="0"/>
                </a:lnTo>
                <a:lnTo>
                  <a:pt x="3177858" y="1857375"/>
                </a:lnTo>
                <a:lnTo>
                  <a:pt x="0" y="185737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25000"/>
            </a:blip>
            <a:stretch>
              <a:fillRect l="-41324" r="-344541" b="-453846"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4378954" y="0"/>
            <a:ext cx="3909046" cy="1643062"/>
          </a:xfrm>
          <a:custGeom>
            <a:avLst/>
            <a:gdLst/>
            <a:ahLst/>
            <a:cxnLst/>
            <a:rect l="l" t="t" r="r" b="b"/>
            <a:pathLst>
              <a:path w="3909046" h="1643062">
                <a:moveTo>
                  <a:pt x="0" y="0"/>
                </a:moveTo>
                <a:lnTo>
                  <a:pt x="3909046" y="0"/>
                </a:lnTo>
                <a:lnTo>
                  <a:pt x="3909046" y="1643062"/>
                </a:lnTo>
                <a:lnTo>
                  <a:pt x="0" y="164306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25000"/>
            </a:blip>
            <a:stretch>
              <a:fillRect l="-282445" r="-12539" b="-526086"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0" y="6958012"/>
            <a:ext cx="2151382" cy="3328988"/>
          </a:xfrm>
          <a:custGeom>
            <a:avLst/>
            <a:gdLst/>
            <a:ahLst/>
            <a:cxnLst/>
            <a:rect l="l" t="t" r="r" b="b"/>
            <a:pathLst>
              <a:path w="2151382" h="3328988">
                <a:moveTo>
                  <a:pt x="0" y="0"/>
                </a:moveTo>
                <a:lnTo>
                  <a:pt x="2151382" y="0"/>
                </a:lnTo>
                <a:lnTo>
                  <a:pt x="2151382" y="3328988"/>
                </a:lnTo>
                <a:lnTo>
                  <a:pt x="0" y="332898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10999"/>
            </a:blip>
            <a:stretch>
              <a:fillRect l="-836" t="-209012" r="-616849"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6080373" y="6829425"/>
            <a:ext cx="2207627" cy="3457575"/>
          </a:xfrm>
          <a:custGeom>
            <a:avLst/>
            <a:gdLst/>
            <a:ahLst/>
            <a:cxnLst/>
            <a:rect l="l" t="t" r="r" b="b"/>
            <a:pathLst>
              <a:path w="2207627" h="3457575">
                <a:moveTo>
                  <a:pt x="0" y="0"/>
                </a:moveTo>
                <a:lnTo>
                  <a:pt x="2207627" y="0"/>
                </a:lnTo>
                <a:lnTo>
                  <a:pt x="2207627" y="3457575"/>
                </a:lnTo>
                <a:lnTo>
                  <a:pt x="0" y="3457575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alphaModFix amt="10999"/>
            </a:blip>
            <a:stretch>
              <a:fillRect l="-598564" t="-197520" r="-836"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448014" y="585148"/>
            <a:ext cx="13930939" cy="1272227"/>
          </a:xfrm>
          <a:custGeom>
            <a:avLst/>
            <a:gdLst/>
            <a:ahLst/>
            <a:cxnLst/>
            <a:rect l="l" t="t" r="r" b="b"/>
            <a:pathLst>
              <a:path w="13930939" h="1272227">
                <a:moveTo>
                  <a:pt x="0" y="0"/>
                </a:moveTo>
                <a:lnTo>
                  <a:pt x="13930940" y="0"/>
                </a:lnTo>
                <a:lnTo>
                  <a:pt x="13930940" y="1272227"/>
                </a:lnTo>
                <a:lnTo>
                  <a:pt x="0" y="1272227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t="-9564" b="-133617"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177062" y="674693"/>
            <a:ext cx="10818932" cy="9591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508"/>
              </a:lnSpc>
              <a:spcBef>
                <a:spcPct val="0"/>
              </a:spcBef>
            </a:pPr>
            <a:r>
              <a:rPr lang="en-US" sz="5362" b="1" u="sng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Audience &amp; Genre Focus 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221418" y="1951290"/>
            <a:ext cx="15112059" cy="80003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336"/>
              </a:lnSpc>
              <a:spcBef>
                <a:spcPct val="0"/>
              </a:spcBef>
            </a:pPr>
            <a:r>
              <a:rPr lang="en-US" sz="4525" b="1" u="sng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Key Points:</a:t>
            </a:r>
          </a:p>
          <a:p>
            <a:pPr algn="l">
              <a:lnSpc>
                <a:spcPts val="6336"/>
              </a:lnSpc>
              <a:spcBef>
                <a:spcPct val="0"/>
              </a:spcBef>
            </a:pPr>
            <a:r>
              <a:rPr lang="en-US" sz="4525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— Core audience watches TV-MA (Mature) and TV-14 (Older Teens).</a:t>
            </a:r>
          </a:p>
          <a:p>
            <a:pPr algn="l">
              <a:lnSpc>
                <a:spcPts val="6336"/>
              </a:lnSpc>
              <a:spcBef>
                <a:spcPct val="0"/>
              </a:spcBef>
            </a:pPr>
            <a:r>
              <a:rPr lang="en-US" sz="4525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— Most content is safe (Dramas, Comedies).</a:t>
            </a:r>
          </a:p>
          <a:p>
            <a:pPr algn="l">
              <a:lnSpc>
                <a:spcPts val="6336"/>
              </a:lnSpc>
              <a:spcBef>
                <a:spcPct val="0"/>
              </a:spcBef>
            </a:pPr>
            <a:endParaRPr lang="en-US" sz="4525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algn="l">
              <a:lnSpc>
                <a:spcPts val="6336"/>
              </a:lnSpc>
              <a:spcBef>
                <a:spcPct val="0"/>
              </a:spcBef>
            </a:pPr>
            <a:r>
              <a:rPr lang="en-US" sz="4525" b="1" u="sng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Recommendation:</a:t>
            </a:r>
          </a:p>
          <a:p>
            <a:pPr algn="l">
              <a:lnSpc>
                <a:spcPts val="6336"/>
              </a:lnSpc>
              <a:spcBef>
                <a:spcPct val="0"/>
              </a:spcBef>
            </a:pPr>
            <a:r>
              <a:rPr lang="en-US" sz="4525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— </a:t>
            </a:r>
            <a:r>
              <a:rPr lang="en-US" sz="4525" u="sng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Audience Focus</a:t>
            </a:r>
            <a:r>
              <a:rPr lang="en-US" sz="4525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Keep making TV-MA/Adult content for the core audience.</a:t>
            </a:r>
          </a:p>
          <a:p>
            <a:pPr algn="l">
              <a:lnSpc>
                <a:spcPts val="6336"/>
              </a:lnSpc>
              <a:spcBef>
                <a:spcPct val="0"/>
              </a:spcBef>
            </a:pPr>
            <a:r>
              <a:rPr lang="en-US" sz="4525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— </a:t>
            </a:r>
            <a:r>
              <a:rPr lang="en-US" sz="4525" u="sng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Niche Growth</a:t>
            </a:r>
            <a:r>
              <a:rPr lang="en-US" sz="4525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Invest more in less crowded, high-demand genres like Sci-Fi and Fantasy to attract new subscribers.</a:t>
            </a:r>
          </a:p>
        </p:txBody>
      </p:sp>
      <p:sp>
        <p:nvSpPr>
          <p:cNvPr id="11" name="Freeform 11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-11111" t="-48765" b="-48765"/>
            </a:stretch>
          </a:blipFill>
          <a:ln w="95250" cap="sq">
            <a:solidFill>
              <a:srgbClr val="E50A14"/>
            </a:solidFill>
            <a:prstDash val="solid"/>
            <a:miter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423925" y="2904627"/>
            <a:ext cx="15440150" cy="4477747"/>
          </a:xfrm>
          <a:custGeom>
            <a:avLst/>
            <a:gdLst/>
            <a:ahLst/>
            <a:cxnLst/>
            <a:rect l="l" t="t" r="r" b="b"/>
            <a:pathLst>
              <a:path w="15440150" h="4477747">
                <a:moveTo>
                  <a:pt x="0" y="0"/>
                </a:moveTo>
                <a:lnTo>
                  <a:pt x="15440150" y="0"/>
                </a:lnTo>
                <a:lnTo>
                  <a:pt x="15440150" y="4477746"/>
                </a:lnTo>
                <a:lnTo>
                  <a:pt x="0" y="447774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5000"/>
            </a:blip>
            <a:stretch>
              <a:fillRect t="-41480" b="-88255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7671855" y="8229600"/>
            <a:ext cx="2713834" cy="2057400"/>
          </a:xfrm>
          <a:custGeom>
            <a:avLst/>
            <a:gdLst/>
            <a:ahLst/>
            <a:cxnLst/>
            <a:rect l="l" t="t" r="r" b="b"/>
            <a:pathLst>
              <a:path w="2713834" h="2057400">
                <a:moveTo>
                  <a:pt x="0" y="0"/>
                </a:moveTo>
                <a:lnTo>
                  <a:pt x="2713834" y="0"/>
                </a:lnTo>
                <a:lnTo>
                  <a:pt x="2713834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19999"/>
            </a:blip>
            <a:stretch>
              <a:fillRect l="-235788" t="-400000" r="-233154"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0" y="0"/>
            <a:ext cx="3177858" cy="1857375"/>
          </a:xfrm>
          <a:custGeom>
            <a:avLst/>
            <a:gdLst/>
            <a:ahLst/>
            <a:cxnLst/>
            <a:rect l="l" t="t" r="r" b="b"/>
            <a:pathLst>
              <a:path w="3177858" h="1857375">
                <a:moveTo>
                  <a:pt x="0" y="0"/>
                </a:moveTo>
                <a:lnTo>
                  <a:pt x="3177858" y="0"/>
                </a:lnTo>
                <a:lnTo>
                  <a:pt x="3177858" y="1857375"/>
                </a:lnTo>
                <a:lnTo>
                  <a:pt x="0" y="185737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25000"/>
            </a:blip>
            <a:stretch>
              <a:fillRect l="-41324" r="-344541" b="-453846"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4378954" y="0"/>
            <a:ext cx="3909046" cy="1643062"/>
          </a:xfrm>
          <a:custGeom>
            <a:avLst/>
            <a:gdLst/>
            <a:ahLst/>
            <a:cxnLst/>
            <a:rect l="l" t="t" r="r" b="b"/>
            <a:pathLst>
              <a:path w="3909046" h="1643062">
                <a:moveTo>
                  <a:pt x="0" y="0"/>
                </a:moveTo>
                <a:lnTo>
                  <a:pt x="3909046" y="0"/>
                </a:lnTo>
                <a:lnTo>
                  <a:pt x="3909046" y="1643062"/>
                </a:lnTo>
                <a:lnTo>
                  <a:pt x="0" y="164306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25000"/>
            </a:blip>
            <a:stretch>
              <a:fillRect l="-282445" r="-12539" b="-526086"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0" y="6958012"/>
            <a:ext cx="2151382" cy="3328988"/>
          </a:xfrm>
          <a:custGeom>
            <a:avLst/>
            <a:gdLst/>
            <a:ahLst/>
            <a:cxnLst/>
            <a:rect l="l" t="t" r="r" b="b"/>
            <a:pathLst>
              <a:path w="2151382" h="3328988">
                <a:moveTo>
                  <a:pt x="0" y="0"/>
                </a:moveTo>
                <a:lnTo>
                  <a:pt x="2151382" y="0"/>
                </a:lnTo>
                <a:lnTo>
                  <a:pt x="2151382" y="3328988"/>
                </a:lnTo>
                <a:lnTo>
                  <a:pt x="0" y="332898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10999"/>
            </a:blip>
            <a:stretch>
              <a:fillRect l="-836" t="-209012" r="-616849"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6080373" y="6829425"/>
            <a:ext cx="2207627" cy="3457575"/>
          </a:xfrm>
          <a:custGeom>
            <a:avLst/>
            <a:gdLst/>
            <a:ahLst/>
            <a:cxnLst/>
            <a:rect l="l" t="t" r="r" b="b"/>
            <a:pathLst>
              <a:path w="2207627" h="3457575">
                <a:moveTo>
                  <a:pt x="0" y="0"/>
                </a:moveTo>
                <a:lnTo>
                  <a:pt x="2207627" y="0"/>
                </a:lnTo>
                <a:lnTo>
                  <a:pt x="2207627" y="3457575"/>
                </a:lnTo>
                <a:lnTo>
                  <a:pt x="0" y="3457575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alphaModFix amt="10999"/>
            </a:blip>
            <a:stretch>
              <a:fillRect l="-598564" t="-197520" r="-836"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9780088" y="2933432"/>
            <a:ext cx="7801771" cy="4924868"/>
          </a:xfrm>
          <a:custGeom>
            <a:avLst/>
            <a:gdLst/>
            <a:ahLst/>
            <a:cxnLst/>
            <a:rect l="l" t="t" r="r" b="b"/>
            <a:pathLst>
              <a:path w="7801771" h="4924868">
                <a:moveTo>
                  <a:pt x="0" y="0"/>
                </a:moveTo>
                <a:lnTo>
                  <a:pt x="7801772" y="0"/>
                </a:lnTo>
                <a:lnTo>
                  <a:pt x="7801772" y="4924868"/>
                </a:lnTo>
                <a:lnTo>
                  <a:pt x="0" y="4924868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667517" y="2933432"/>
            <a:ext cx="8090133" cy="4924868"/>
          </a:xfrm>
          <a:custGeom>
            <a:avLst/>
            <a:gdLst/>
            <a:ahLst/>
            <a:cxnLst/>
            <a:rect l="l" t="t" r="r" b="b"/>
            <a:pathLst>
              <a:path w="8090133" h="4924868">
                <a:moveTo>
                  <a:pt x="0" y="0"/>
                </a:moveTo>
                <a:lnTo>
                  <a:pt x="8090133" y="0"/>
                </a:lnTo>
                <a:lnTo>
                  <a:pt x="8090133" y="4924868"/>
                </a:lnTo>
                <a:lnTo>
                  <a:pt x="0" y="4924868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-11111" t="-48765" b="-48765"/>
            </a:stretch>
          </a:blipFill>
          <a:ln w="95250" cap="sq">
            <a:solidFill>
              <a:srgbClr val="E50A14"/>
            </a:solidFill>
            <a:prstDash val="solid"/>
            <a:miter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423925" y="2904627"/>
            <a:ext cx="15440150" cy="4477747"/>
          </a:xfrm>
          <a:custGeom>
            <a:avLst/>
            <a:gdLst/>
            <a:ahLst/>
            <a:cxnLst/>
            <a:rect l="l" t="t" r="r" b="b"/>
            <a:pathLst>
              <a:path w="15440150" h="4477747">
                <a:moveTo>
                  <a:pt x="0" y="0"/>
                </a:moveTo>
                <a:lnTo>
                  <a:pt x="15440150" y="0"/>
                </a:lnTo>
                <a:lnTo>
                  <a:pt x="15440150" y="4477746"/>
                </a:lnTo>
                <a:lnTo>
                  <a:pt x="0" y="447774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5000"/>
            </a:blip>
            <a:stretch>
              <a:fillRect t="-41480" b="-88255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7671855" y="8229600"/>
            <a:ext cx="2713834" cy="2057400"/>
          </a:xfrm>
          <a:custGeom>
            <a:avLst/>
            <a:gdLst/>
            <a:ahLst/>
            <a:cxnLst/>
            <a:rect l="l" t="t" r="r" b="b"/>
            <a:pathLst>
              <a:path w="2713834" h="2057400">
                <a:moveTo>
                  <a:pt x="0" y="0"/>
                </a:moveTo>
                <a:lnTo>
                  <a:pt x="2713834" y="0"/>
                </a:lnTo>
                <a:lnTo>
                  <a:pt x="2713834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19999"/>
            </a:blip>
            <a:stretch>
              <a:fillRect l="-235788" t="-400000" r="-233154"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0" y="0"/>
            <a:ext cx="3177858" cy="1857375"/>
          </a:xfrm>
          <a:custGeom>
            <a:avLst/>
            <a:gdLst/>
            <a:ahLst/>
            <a:cxnLst/>
            <a:rect l="l" t="t" r="r" b="b"/>
            <a:pathLst>
              <a:path w="3177858" h="1857375">
                <a:moveTo>
                  <a:pt x="0" y="0"/>
                </a:moveTo>
                <a:lnTo>
                  <a:pt x="3177858" y="0"/>
                </a:lnTo>
                <a:lnTo>
                  <a:pt x="3177858" y="1857375"/>
                </a:lnTo>
                <a:lnTo>
                  <a:pt x="0" y="185737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25000"/>
            </a:blip>
            <a:stretch>
              <a:fillRect l="-41324" r="-344541" b="-453846"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4378954" y="0"/>
            <a:ext cx="3909046" cy="1643062"/>
          </a:xfrm>
          <a:custGeom>
            <a:avLst/>
            <a:gdLst/>
            <a:ahLst/>
            <a:cxnLst/>
            <a:rect l="l" t="t" r="r" b="b"/>
            <a:pathLst>
              <a:path w="3909046" h="1643062">
                <a:moveTo>
                  <a:pt x="0" y="0"/>
                </a:moveTo>
                <a:lnTo>
                  <a:pt x="3909046" y="0"/>
                </a:lnTo>
                <a:lnTo>
                  <a:pt x="3909046" y="1643062"/>
                </a:lnTo>
                <a:lnTo>
                  <a:pt x="0" y="164306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25000"/>
            </a:blip>
            <a:stretch>
              <a:fillRect l="-282445" r="-12539" b="-526086"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0" y="6958012"/>
            <a:ext cx="2151382" cy="3328988"/>
          </a:xfrm>
          <a:custGeom>
            <a:avLst/>
            <a:gdLst/>
            <a:ahLst/>
            <a:cxnLst/>
            <a:rect l="l" t="t" r="r" b="b"/>
            <a:pathLst>
              <a:path w="2151382" h="3328988">
                <a:moveTo>
                  <a:pt x="0" y="0"/>
                </a:moveTo>
                <a:lnTo>
                  <a:pt x="2151382" y="0"/>
                </a:lnTo>
                <a:lnTo>
                  <a:pt x="2151382" y="3328988"/>
                </a:lnTo>
                <a:lnTo>
                  <a:pt x="0" y="332898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10999"/>
            </a:blip>
            <a:stretch>
              <a:fillRect l="-836" t="-209012" r="-616849"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6080373" y="6829425"/>
            <a:ext cx="2207627" cy="3457575"/>
          </a:xfrm>
          <a:custGeom>
            <a:avLst/>
            <a:gdLst/>
            <a:ahLst/>
            <a:cxnLst/>
            <a:rect l="l" t="t" r="r" b="b"/>
            <a:pathLst>
              <a:path w="2207627" h="3457575">
                <a:moveTo>
                  <a:pt x="0" y="0"/>
                </a:moveTo>
                <a:lnTo>
                  <a:pt x="2207627" y="0"/>
                </a:lnTo>
                <a:lnTo>
                  <a:pt x="2207627" y="3457575"/>
                </a:lnTo>
                <a:lnTo>
                  <a:pt x="0" y="3457575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alphaModFix amt="10999"/>
            </a:blip>
            <a:stretch>
              <a:fillRect l="-598564" t="-197520" r="-836"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448014" y="585148"/>
            <a:ext cx="13930939" cy="1272227"/>
          </a:xfrm>
          <a:custGeom>
            <a:avLst/>
            <a:gdLst/>
            <a:ahLst/>
            <a:cxnLst/>
            <a:rect l="l" t="t" r="r" b="b"/>
            <a:pathLst>
              <a:path w="13930939" h="1272227">
                <a:moveTo>
                  <a:pt x="0" y="0"/>
                </a:moveTo>
                <a:lnTo>
                  <a:pt x="13930940" y="0"/>
                </a:lnTo>
                <a:lnTo>
                  <a:pt x="13930940" y="1272227"/>
                </a:lnTo>
                <a:lnTo>
                  <a:pt x="0" y="1272227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t="-9564" b="-133617"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177062" y="674693"/>
            <a:ext cx="10818932" cy="9591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508"/>
              </a:lnSpc>
              <a:spcBef>
                <a:spcPct val="0"/>
              </a:spcBef>
            </a:pPr>
            <a:r>
              <a:rPr lang="en-US" sz="5362" b="1" u="sng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Library Growth &amp; Age 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936033" y="2540894"/>
            <a:ext cx="15928042" cy="67174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669"/>
              </a:lnSpc>
              <a:spcBef>
                <a:spcPct val="0"/>
              </a:spcBef>
            </a:pPr>
            <a:r>
              <a:rPr lang="en-US" sz="4763" b="1" u="sng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Key Points:</a:t>
            </a:r>
          </a:p>
          <a:p>
            <a:pPr algn="l">
              <a:lnSpc>
                <a:spcPts val="6669"/>
              </a:lnSpc>
              <a:spcBef>
                <a:spcPct val="0"/>
              </a:spcBef>
            </a:pPr>
            <a:r>
              <a:rPr lang="en-US" sz="4763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— New titles added peaked in 2019 and have slowed down.</a:t>
            </a:r>
          </a:p>
          <a:p>
            <a:pPr algn="l">
              <a:lnSpc>
                <a:spcPts val="6669"/>
              </a:lnSpc>
              <a:spcBef>
                <a:spcPct val="0"/>
              </a:spcBef>
            </a:pPr>
            <a:r>
              <a:rPr lang="en-US" sz="4763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— We acquire brand new and older content (around 5 years old).</a:t>
            </a:r>
          </a:p>
          <a:p>
            <a:pPr algn="l">
              <a:lnSpc>
                <a:spcPts val="6669"/>
              </a:lnSpc>
              <a:spcBef>
                <a:spcPct val="0"/>
              </a:spcBef>
            </a:pPr>
            <a:endParaRPr lang="en-US" sz="4763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algn="l">
              <a:lnSpc>
                <a:spcPts val="6669"/>
              </a:lnSpc>
              <a:spcBef>
                <a:spcPct val="0"/>
              </a:spcBef>
            </a:pPr>
            <a:r>
              <a:rPr lang="en-US" sz="4763" b="1" u="sng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Recommendation:</a:t>
            </a:r>
          </a:p>
          <a:p>
            <a:pPr algn="l">
              <a:lnSpc>
                <a:spcPts val="6669"/>
              </a:lnSpc>
              <a:spcBef>
                <a:spcPct val="0"/>
              </a:spcBef>
            </a:pPr>
            <a:r>
              <a:rPr lang="en-US" sz="4763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— </a:t>
            </a:r>
            <a:r>
              <a:rPr lang="en-US" sz="4763" u="sng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Maintain Balance:</a:t>
            </a:r>
            <a:r>
              <a:rPr lang="en-US" sz="4763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Continue the strategy of buying older films for library depth AND producing many high-quality originals (freshness) to keep the library appealing.</a:t>
            </a:r>
          </a:p>
        </p:txBody>
      </p:sp>
      <p:sp>
        <p:nvSpPr>
          <p:cNvPr id="11" name="Freeform 11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-11111" t="-48765" b="-48765"/>
            </a:stretch>
          </a:blipFill>
          <a:ln w="95250" cap="sq">
            <a:solidFill>
              <a:srgbClr val="E50A14"/>
            </a:solidFill>
            <a:prstDash val="solid"/>
            <a:miter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423925" y="2904627"/>
            <a:ext cx="15440150" cy="4477747"/>
          </a:xfrm>
          <a:custGeom>
            <a:avLst/>
            <a:gdLst/>
            <a:ahLst/>
            <a:cxnLst/>
            <a:rect l="l" t="t" r="r" b="b"/>
            <a:pathLst>
              <a:path w="15440150" h="4477747">
                <a:moveTo>
                  <a:pt x="0" y="0"/>
                </a:moveTo>
                <a:lnTo>
                  <a:pt x="15440150" y="0"/>
                </a:lnTo>
                <a:lnTo>
                  <a:pt x="15440150" y="4477746"/>
                </a:lnTo>
                <a:lnTo>
                  <a:pt x="0" y="447774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5000"/>
            </a:blip>
            <a:stretch>
              <a:fillRect t="-41480" b="-88255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7671855" y="8229600"/>
            <a:ext cx="2713834" cy="2057400"/>
          </a:xfrm>
          <a:custGeom>
            <a:avLst/>
            <a:gdLst/>
            <a:ahLst/>
            <a:cxnLst/>
            <a:rect l="l" t="t" r="r" b="b"/>
            <a:pathLst>
              <a:path w="2713834" h="2057400">
                <a:moveTo>
                  <a:pt x="0" y="0"/>
                </a:moveTo>
                <a:lnTo>
                  <a:pt x="2713834" y="0"/>
                </a:lnTo>
                <a:lnTo>
                  <a:pt x="2713834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19999"/>
            </a:blip>
            <a:stretch>
              <a:fillRect l="-235788" t="-400000" r="-233154"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0" y="0"/>
            <a:ext cx="3177858" cy="1857375"/>
          </a:xfrm>
          <a:custGeom>
            <a:avLst/>
            <a:gdLst/>
            <a:ahLst/>
            <a:cxnLst/>
            <a:rect l="l" t="t" r="r" b="b"/>
            <a:pathLst>
              <a:path w="3177858" h="1857375">
                <a:moveTo>
                  <a:pt x="0" y="0"/>
                </a:moveTo>
                <a:lnTo>
                  <a:pt x="3177858" y="0"/>
                </a:lnTo>
                <a:lnTo>
                  <a:pt x="3177858" y="1857375"/>
                </a:lnTo>
                <a:lnTo>
                  <a:pt x="0" y="185737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25000"/>
            </a:blip>
            <a:stretch>
              <a:fillRect l="-41324" r="-344541" b="-453846"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4378954" y="0"/>
            <a:ext cx="3909046" cy="1643062"/>
          </a:xfrm>
          <a:custGeom>
            <a:avLst/>
            <a:gdLst/>
            <a:ahLst/>
            <a:cxnLst/>
            <a:rect l="l" t="t" r="r" b="b"/>
            <a:pathLst>
              <a:path w="3909046" h="1643062">
                <a:moveTo>
                  <a:pt x="0" y="0"/>
                </a:moveTo>
                <a:lnTo>
                  <a:pt x="3909046" y="0"/>
                </a:lnTo>
                <a:lnTo>
                  <a:pt x="3909046" y="1643062"/>
                </a:lnTo>
                <a:lnTo>
                  <a:pt x="0" y="164306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25000"/>
            </a:blip>
            <a:stretch>
              <a:fillRect l="-282445" r="-12539" b="-526086"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0" y="6958012"/>
            <a:ext cx="2151382" cy="3328988"/>
          </a:xfrm>
          <a:custGeom>
            <a:avLst/>
            <a:gdLst/>
            <a:ahLst/>
            <a:cxnLst/>
            <a:rect l="l" t="t" r="r" b="b"/>
            <a:pathLst>
              <a:path w="2151382" h="3328988">
                <a:moveTo>
                  <a:pt x="0" y="0"/>
                </a:moveTo>
                <a:lnTo>
                  <a:pt x="2151382" y="0"/>
                </a:lnTo>
                <a:lnTo>
                  <a:pt x="2151382" y="3328988"/>
                </a:lnTo>
                <a:lnTo>
                  <a:pt x="0" y="332898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10999"/>
            </a:blip>
            <a:stretch>
              <a:fillRect l="-836" t="-209012" r="-616849"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6080373" y="6829425"/>
            <a:ext cx="2207627" cy="3457575"/>
          </a:xfrm>
          <a:custGeom>
            <a:avLst/>
            <a:gdLst/>
            <a:ahLst/>
            <a:cxnLst/>
            <a:rect l="l" t="t" r="r" b="b"/>
            <a:pathLst>
              <a:path w="2207627" h="3457575">
                <a:moveTo>
                  <a:pt x="0" y="0"/>
                </a:moveTo>
                <a:lnTo>
                  <a:pt x="2207627" y="0"/>
                </a:lnTo>
                <a:lnTo>
                  <a:pt x="2207627" y="3457575"/>
                </a:lnTo>
                <a:lnTo>
                  <a:pt x="0" y="3457575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alphaModFix amt="10999"/>
            </a:blip>
            <a:stretch>
              <a:fillRect l="-598564" t="-197520" r="-836"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427731" y="2584676"/>
            <a:ext cx="8211847" cy="5111875"/>
          </a:xfrm>
          <a:custGeom>
            <a:avLst/>
            <a:gdLst/>
            <a:ahLst/>
            <a:cxnLst/>
            <a:rect l="l" t="t" r="r" b="b"/>
            <a:pathLst>
              <a:path w="8211847" h="5111875">
                <a:moveTo>
                  <a:pt x="0" y="0"/>
                </a:moveTo>
                <a:lnTo>
                  <a:pt x="8211847" y="0"/>
                </a:lnTo>
                <a:lnTo>
                  <a:pt x="8211847" y="5111874"/>
                </a:lnTo>
                <a:lnTo>
                  <a:pt x="0" y="5111874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9501009" y="2590450"/>
            <a:ext cx="8285762" cy="5106101"/>
          </a:xfrm>
          <a:custGeom>
            <a:avLst/>
            <a:gdLst/>
            <a:ahLst/>
            <a:cxnLst/>
            <a:rect l="l" t="t" r="r" b="b"/>
            <a:pathLst>
              <a:path w="8285762" h="5106101">
                <a:moveTo>
                  <a:pt x="0" y="0"/>
                </a:moveTo>
                <a:lnTo>
                  <a:pt x="8285762" y="0"/>
                </a:lnTo>
                <a:lnTo>
                  <a:pt x="8285762" y="5106100"/>
                </a:lnTo>
                <a:lnTo>
                  <a:pt x="0" y="510610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-11111" t="-48765" b="-48765"/>
            </a:stretch>
          </a:blipFill>
          <a:ln w="95250" cap="sq">
            <a:solidFill>
              <a:srgbClr val="E50A14"/>
            </a:solidFill>
            <a:prstDash val="solid"/>
            <a:miter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423925" y="2904627"/>
            <a:ext cx="15440150" cy="4477747"/>
          </a:xfrm>
          <a:custGeom>
            <a:avLst/>
            <a:gdLst/>
            <a:ahLst/>
            <a:cxnLst/>
            <a:rect l="l" t="t" r="r" b="b"/>
            <a:pathLst>
              <a:path w="15440150" h="4477747">
                <a:moveTo>
                  <a:pt x="0" y="0"/>
                </a:moveTo>
                <a:lnTo>
                  <a:pt x="15440150" y="0"/>
                </a:lnTo>
                <a:lnTo>
                  <a:pt x="15440150" y="4477746"/>
                </a:lnTo>
                <a:lnTo>
                  <a:pt x="0" y="447774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5000"/>
            </a:blip>
            <a:stretch>
              <a:fillRect t="-41480" b="-88255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7671855" y="8229600"/>
            <a:ext cx="2713834" cy="2057400"/>
          </a:xfrm>
          <a:custGeom>
            <a:avLst/>
            <a:gdLst/>
            <a:ahLst/>
            <a:cxnLst/>
            <a:rect l="l" t="t" r="r" b="b"/>
            <a:pathLst>
              <a:path w="2713834" h="2057400">
                <a:moveTo>
                  <a:pt x="0" y="0"/>
                </a:moveTo>
                <a:lnTo>
                  <a:pt x="2713834" y="0"/>
                </a:lnTo>
                <a:lnTo>
                  <a:pt x="2713834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19999"/>
            </a:blip>
            <a:stretch>
              <a:fillRect l="-235788" t="-400000" r="-233154"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0" y="0"/>
            <a:ext cx="3177858" cy="1857375"/>
          </a:xfrm>
          <a:custGeom>
            <a:avLst/>
            <a:gdLst/>
            <a:ahLst/>
            <a:cxnLst/>
            <a:rect l="l" t="t" r="r" b="b"/>
            <a:pathLst>
              <a:path w="3177858" h="1857375">
                <a:moveTo>
                  <a:pt x="0" y="0"/>
                </a:moveTo>
                <a:lnTo>
                  <a:pt x="3177858" y="0"/>
                </a:lnTo>
                <a:lnTo>
                  <a:pt x="3177858" y="1857375"/>
                </a:lnTo>
                <a:lnTo>
                  <a:pt x="0" y="185737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25000"/>
            </a:blip>
            <a:stretch>
              <a:fillRect l="-41324" r="-344541" b="-453846"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4378954" y="0"/>
            <a:ext cx="3909046" cy="1643062"/>
          </a:xfrm>
          <a:custGeom>
            <a:avLst/>
            <a:gdLst/>
            <a:ahLst/>
            <a:cxnLst/>
            <a:rect l="l" t="t" r="r" b="b"/>
            <a:pathLst>
              <a:path w="3909046" h="1643062">
                <a:moveTo>
                  <a:pt x="0" y="0"/>
                </a:moveTo>
                <a:lnTo>
                  <a:pt x="3909046" y="0"/>
                </a:lnTo>
                <a:lnTo>
                  <a:pt x="3909046" y="1643062"/>
                </a:lnTo>
                <a:lnTo>
                  <a:pt x="0" y="164306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25000"/>
            </a:blip>
            <a:stretch>
              <a:fillRect l="-282445" r="-12539" b="-526086"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0" y="6958012"/>
            <a:ext cx="2151382" cy="3328988"/>
          </a:xfrm>
          <a:custGeom>
            <a:avLst/>
            <a:gdLst/>
            <a:ahLst/>
            <a:cxnLst/>
            <a:rect l="l" t="t" r="r" b="b"/>
            <a:pathLst>
              <a:path w="2151382" h="3328988">
                <a:moveTo>
                  <a:pt x="0" y="0"/>
                </a:moveTo>
                <a:lnTo>
                  <a:pt x="2151382" y="0"/>
                </a:lnTo>
                <a:lnTo>
                  <a:pt x="2151382" y="3328988"/>
                </a:lnTo>
                <a:lnTo>
                  <a:pt x="0" y="332898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10999"/>
            </a:blip>
            <a:stretch>
              <a:fillRect l="-836" t="-209012" r="-616849"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6080373" y="6829425"/>
            <a:ext cx="2207627" cy="3457575"/>
          </a:xfrm>
          <a:custGeom>
            <a:avLst/>
            <a:gdLst/>
            <a:ahLst/>
            <a:cxnLst/>
            <a:rect l="l" t="t" r="r" b="b"/>
            <a:pathLst>
              <a:path w="2207627" h="3457575">
                <a:moveTo>
                  <a:pt x="0" y="0"/>
                </a:moveTo>
                <a:lnTo>
                  <a:pt x="2207627" y="0"/>
                </a:lnTo>
                <a:lnTo>
                  <a:pt x="2207627" y="3457575"/>
                </a:lnTo>
                <a:lnTo>
                  <a:pt x="0" y="3457575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alphaModFix amt="10999"/>
            </a:blip>
            <a:stretch>
              <a:fillRect l="-598564" t="-197520" r="-836"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448014" y="585148"/>
            <a:ext cx="13930939" cy="1272227"/>
          </a:xfrm>
          <a:custGeom>
            <a:avLst/>
            <a:gdLst/>
            <a:ahLst/>
            <a:cxnLst/>
            <a:rect l="l" t="t" r="r" b="b"/>
            <a:pathLst>
              <a:path w="13930939" h="1272227">
                <a:moveTo>
                  <a:pt x="0" y="0"/>
                </a:moveTo>
                <a:lnTo>
                  <a:pt x="13930940" y="0"/>
                </a:lnTo>
                <a:lnTo>
                  <a:pt x="13930940" y="1272227"/>
                </a:lnTo>
                <a:lnTo>
                  <a:pt x="0" y="1272227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t="-9564" b="-133617"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2151382" y="683907"/>
            <a:ext cx="4629031" cy="9591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508"/>
              </a:lnSpc>
              <a:spcBef>
                <a:spcPct val="0"/>
              </a:spcBef>
            </a:pPr>
            <a:r>
              <a:rPr lang="en-US" sz="5362" b="1" u="sng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Talent Strategy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936967" y="2032856"/>
            <a:ext cx="16183609" cy="77063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792"/>
              </a:lnSpc>
              <a:spcBef>
                <a:spcPct val="0"/>
              </a:spcBef>
            </a:pPr>
            <a:r>
              <a:rPr lang="en-US" sz="4851" b="1" u="sng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Key Points:</a:t>
            </a:r>
          </a:p>
          <a:p>
            <a:pPr algn="l">
              <a:lnSpc>
                <a:spcPts val="6792"/>
              </a:lnSpc>
              <a:spcBef>
                <a:spcPct val="0"/>
              </a:spcBef>
            </a:pPr>
            <a:r>
              <a:rPr lang="en-US" sz="4851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— Director and Actor talent is highly diversified; no single person dominates.</a:t>
            </a:r>
          </a:p>
          <a:p>
            <a:pPr algn="l">
              <a:lnSpc>
                <a:spcPts val="6792"/>
              </a:lnSpc>
              <a:spcBef>
                <a:spcPct val="0"/>
              </a:spcBef>
            </a:pPr>
            <a:endParaRPr lang="en-US" sz="4851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algn="l">
              <a:lnSpc>
                <a:spcPts val="6792"/>
              </a:lnSpc>
              <a:spcBef>
                <a:spcPct val="0"/>
              </a:spcBef>
            </a:pPr>
            <a:r>
              <a:rPr lang="en-US" sz="4851" b="1" u="sng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Recommendation:</a:t>
            </a:r>
          </a:p>
          <a:p>
            <a:pPr algn="l">
              <a:lnSpc>
                <a:spcPts val="6792"/>
              </a:lnSpc>
              <a:spcBef>
                <a:spcPct val="0"/>
              </a:spcBef>
            </a:pPr>
            <a:r>
              <a:rPr lang="en-US" sz="4851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— </a:t>
            </a:r>
            <a:r>
              <a:rPr lang="en-US" sz="4851" u="sng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Acquisition:</a:t>
            </a:r>
            <a:r>
              <a:rPr lang="en-US" sz="4851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Sign the few top-performing people to long-term deals to guarantee a stream of popular work.</a:t>
            </a:r>
          </a:p>
          <a:p>
            <a:pPr algn="l">
              <a:lnSpc>
                <a:spcPts val="6792"/>
              </a:lnSpc>
              <a:spcBef>
                <a:spcPct val="0"/>
              </a:spcBef>
            </a:pPr>
            <a:r>
              <a:rPr lang="en-US" sz="4851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— </a:t>
            </a:r>
            <a:r>
              <a:rPr lang="en-US" sz="4851" u="sng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Marketing: </a:t>
            </a:r>
            <a:r>
              <a:rPr lang="en-US" sz="4851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Focus promotion on local actors who are popular in specific regions rather than relying only on global stars.</a:t>
            </a:r>
          </a:p>
        </p:txBody>
      </p:sp>
      <p:sp>
        <p:nvSpPr>
          <p:cNvPr id="11" name="Freeform 11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-11111" t="-48765" b="-48765"/>
            </a:stretch>
          </a:blipFill>
          <a:ln w="95250" cap="sq">
            <a:solidFill>
              <a:srgbClr val="E50A14"/>
            </a:solidFill>
            <a:prstDash val="solid"/>
            <a:miter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423925" y="2904627"/>
            <a:ext cx="15440150" cy="4477747"/>
          </a:xfrm>
          <a:custGeom>
            <a:avLst/>
            <a:gdLst/>
            <a:ahLst/>
            <a:cxnLst/>
            <a:rect l="l" t="t" r="r" b="b"/>
            <a:pathLst>
              <a:path w="15440150" h="4477747">
                <a:moveTo>
                  <a:pt x="0" y="0"/>
                </a:moveTo>
                <a:lnTo>
                  <a:pt x="15440150" y="0"/>
                </a:lnTo>
                <a:lnTo>
                  <a:pt x="15440150" y="4477746"/>
                </a:lnTo>
                <a:lnTo>
                  <a:pt x="0" y="447774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5000"/>
            </a:blip>
            <a:stretch>
              <a:fillRect t="-41480" b="-88255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7671855" y="8229600"/>
            <a:ext cx="2713834" cy="2057400"/>
          </a:xfrm>
          <a:custGeom>
            <a:avLst/>
            <a:gdLst/>
            <a:ahLst/>
            <a:cxnLst/>
            <a:rect l="l" t="t" r="r" b="b"/>
            <a:pathLst>
              <a:path w="2713834" h="2057400">
                <a:moveTo>
                  <a:pt x="0" y="0"/>
                </a:moveTo>
                <a:lnTo>
                  <a:pt x="2713834" y="0"/>
                </a:lnTo>
                <a:lnTo>
                  <a:pt x="2713834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19999"/>
            </a:blip>
            <a:stretch>
              <a:fillRect l="-235788" t="-400000" r="-233154"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0" y="0"/>
            <a:ext cx="3177858" cy="1857375"/>
          </a:xfrm>
          <a:custGeom>
            <a:avLst/>
            <a:gdLst/>
            <a:ahLst/>
            <a:cxnLst/>
            <a:rect l="l" t="t" r="r" b="b"/>
            <a:pathLst>
              <a:path w="3177858" h="1857375">
                <a:moveTo>
                  <a:pt x="0" y="0"/>
                </a:moveTo>
                <a:lnTo>
                  <a:pt x="3177858" y="0"/>
                </a:lnTo>
                <a:lnTo>
                  <a:pt x="3177858" y="1857375"/>
                </a:lnTo>
                <a:lnTo>
                  <a:pt x="0" y="185737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25000"/>
            </a:blip>
            <a:stretch>
              <a:fillRect l="-41324" r="-344541" b="-453846"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4378954" y="0"/>
            <a:ext cx="3909046" cy="1643062"/>
          </a:xfrm>
          <a:custGeom>
            <a:avLst/>
            <a:gdLst/>
            <a:ahLst/>
            <a:cxnLst/>
            <a:rect l="l" t="t" r="r" b="b"/>
            <a:pathLst>
              <a:path w="3909046" h="1643062">
                <a:moveTo>
                  <a:pt x="0" y="0"/>
                </a:moveTo>
                <a:lnTo>
                  <a:pt x="3909046" y="0"/>
                </a:lnTo>
                <a:lnTo>
                  <a:pt x="3909046" y="1643062"/>
                </a:lnTo>
                <a:lnTo>
                  <a:pt x="0" y="164306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25000"/>
            </a:blip>
            <a:stretch>
              <a:fillRect l="-282445" r="-12539" b="-526086"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0" y="6958012"/>
            <a:ext cx="2151382" cy="3328988"/>
          </a:xfrm>
          <a:custGeom>
            <a:avLst/>
            <a:gdLst/>
            <a:ahLst/>
            <a:cxnLst/>
            <a:rect l="l" t="t" r="r" b="b"/>
            <a:pathLst>
              <a:path w="2151382" h="3328988">
                <a:moveTo>
                  <a:pt x="0" y="0"/>
                </a:moveTo>
                <a:lnTo>
                  <a:pt x="2151382" y="0"/>
                </a:lnTo>
                <a:lnTo>
                  <a:pt x="2151382" y="3328988"/>
                </a:lnTo>
                <a:lnTo>
                  <a:pt x="0" y="332898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10999"/>
            </a:blip>
            <a:stretch>
              <a:fillRect l="-836" t="-209012" r="-616849"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6080373" y="6829425"/>
            <a:ext cx="2207627" cy="3457575"/>
          </a:xfrm>
          <a:custGeom>
            <a:avLst/>
            <a:gdLst/>
            <a:ahLst/>
            <a:cxnLst/>
            <a:rect l="l" t="t" r="r" b="b"/>
            <a:pathLst>
              <a:path w="2207627" h="3457575">
                <a:moveTo>
                  <a:pt x="0" y="0"/>
                </a:moveTo>
                <a:lnTo>
                  <a:pt x="2207627" y="0"/>
                </a:lnTo>
                <a:lnTo>
                  <a:pt x="2207627" y="3457575"/>
                </a:lnTo>
                <a:lnTo>
                  <a:pt x="0" y="3457575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alphaModFix amt="10999"/>
            </a:blip>
            <a:stretch>
              <a:fillRect l="-598564" t="-197520" r="-836"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9477894" y="2633584"/>
            <a:ext cx="8429071" cy="5226024"/>
          </a:xfrm>
          <a:custGeom>
            <a:avLst/>
            <a:gdLst/>
            <a:ahLst/>
            <a:cxnLst/>
            <a:rect l="l" t="t" r="r" b="b"/>
            <a:pathLst>
              <a:path w="8429071" h="5226024">
                <a:moveTo>
                  <a:pt x="0" y="0"/>
                </a:moveTo>
                <a:lnTo>
                  <a:pt x="8429070" y="0"/>
                </a:lnTo>
                <a:lnTo>
                  <a:pt x="8429070" y="5226024"/>
                </a:lnTo>
                <a:lnTo>
                  <a:pt x="0" y="5226024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391259" y="2633584"/>
            <a:ext cx="8463196" cy="5226024"/>
          </a:xfrm>
          <a:custGeom>
            <a:avLst/>
            <a:gdLst/>
            <a:ahLst/>
            <a:cxnLst/>
            <a:rect l="l" t="t" r="r" b="b"/>
            <a:pathLst>
              <a:path w="8463196" h="5226024">
                <a:moveTo>
                  <a:pt x="0" y="0"/>
                </a:moveTo>
                <a:lnTo>
                  <a:pt x="8463196" y="0"/>
                </a:lnTo>
                <a:lnTo>
                  <a:pt x="8463196" y="5226024"/>
                </a:lnTo>
                <a:lnTo>
                  <a:pt x="0" y="5226024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-11111" t="-48765" b="-48765"/>
            </a:stretch>
          </a:blipFill>
          <a:ln w="95250" cap="sq">
            <a:solidFill>
              <a:srgbClr val="E50A14"/>
            </a:solidFill>
            <a:prstDash val="solid"/>
            <a:miter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423925" y="2904627"/>
            <a:ext cx="15440150" cy="4477747"/>
          </a:xfrm>
          <a:custGeom>
            <a:avLst/>
            <a:gdLst/>
            <a:ahLst/>
            <a:cxnLst/>
            <a:rect l="l" t="t" r="r" b="b"/>
            <a:pathLst>
              <a:path w="15440150" h="4477747">
                <a:moveTo>
                  <a:pt x="0" y="0"/>
                </a:moveTo>
                <a:lnTo>
                  <a:pt x="15440150" y="0"/>
                </a:lnTo>
                <a:lnTo>
                  <a:pt x="15440150" y="4477746"/>
                </a:lnTo>
                <a:lnTo>
                  <a:pt x="0" y="447774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5000"/>
            </a:blip>
            <a:stretch>
              <a:fillRect t="-41480" b="-88255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7671855" y="8229600"/>
            <a:ext cx="2713834" cy="2057400"/>
          </a:xfrm>
          <a:custGeom>
            <a:avLst/>
            <a:gdLst/>
            <a:ahLst/>
            <a:cxnLst/>
            <a:rect l="l" t="t" r="r" b="b"/>
            <a:pathLst>
              <a:path w="2713834" h="2057400">
                <a:moveTo>
                  <a:pt x="0" y="0"/>
                </a:moveTo>
                <a:lnTo>
                  <a:pt x="2713834" y="0"/>
                </a:lnTo>
                <a:lnTo>
                  <a:pt x="2713834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19999"/>
            </a:blip>
            <a:stretch>
              <a:fillRect l="-235788" t="-400000" r="-233154"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0" y="0"/>
            <a:ext cx="3177858" cy="1857375"/>
          </a:xfrm>
          <a:custGeom>
            <a:avLst/>
            <a:gdLst/>
            <a:ahLst/>
            <a:cxnLst/>
            <a:rect l="l" t="t" r="r" b="b"/>
            <a:pathLst>
              <a:path w="3177858" h="1857375">
                <a:moveTo>
                  <a:pt x="0" y="0"/>
                </a:moveTo>
                <a:lnTo>
                  <a:pt x="3177858" y="0"/>
                </a:lnTo>
                <a:lnTo>
                  <a:pt x="3177858" y="1857375"/>
                </a:lnTo>
                <a:lnTo>
                  <a:pt x="0" y="185737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25000"/>
            </a:blip>
            <a:stretch>
              <a:fillRect l="-41324" r="-344541" b="-453846"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4378954" y="0"/>
            <a:ext cx="3909046" cy="1643062"/>
          </a:xfrm>
          <a:custGeom>
            <a:avLst/>
            <a:gdLst/>
            <a:ahLst/>
            <a:cxnLst/>
            <a:rect l="l" t="t" r="r" b="b"/>
            <a:pathLst>
              <a:path w="3909046" h="1643062">
                <a:moveTo>
                  <a:pt x="0" y="0"/>
                </a:moveTo>
                <a:lnTo>
                  <a:pt x="3909046" y="0"/>
                </a:lnTo>
                <a:lnTo>
                  <a:pt x="3909046" y="1643062"/>
                </a:lnTo>
                <a:lnTo>
                  <a:pt x="0" y="164306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25000"/>
            </a:blip>
            <a:stretch>
              <a:fillRect l="-282445" r="-12539" b="-526086"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0" y="6958012"/>
            <a:ext cx="2151382" cy="3328988"/>
          </a:xfrm>
          <a:custGeom>
            <a:avLst/>
            <a:gdLst/>
            <a:ahLst/>
            <a:cxnLst/>
            <a:rect l="l" t="t" r="r" b="b"/>
            <a:pathLst>
              <a:path w="2151382" h="3328988">
                <a:moveTo>
                  <a:pt x="0" y="0"/>
                </a:moveTo>
                <a:lnTo>
                  <a:pt x="2151382" y="0"/>
                </a:lnTo>
                <a:lnTo>
                  <a:pt x="2151382" y="3328988"/>
                </a:lnTo>
                <a:lnTo>
                  <a:pt x="0" y="332898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10999"/>
            </a:blip>
            <a:stretch>
              <a:fillRect l="-836" t="-209012" r="-616849"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6080373" y="6829425"/>
            <a:ext cx="2207627" cy="3457575"/>
          </a:xfrm>
          <a:custGeom>
            <a:avLst/>
            <a:gdLst/>
            <a:ahLst/>
            <a:cxnLst/>
            <a:rect l="l" t="t" r="r" b="b"/>
            <a:pathLst>
              <a:path w="2207627" h="3457575">
                <a:moveTo>
                  <a:pt x="0" y="0"/>
                </a:moveTo>
                <a:lnTo>
                  <a:pt x="2207627" y="0"/>
                </a:lnTo>
                <a:lnTo>
                  <a:pt x="2207627" y="3457575"/>
                </a:lnTo>
                <a:lnTo>
                  <a:pt x="0" y="3457575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alphaModFix amt="10999"/>
            </a:blip>
            <a:stretch>
              <a:fillRect l="-598564" t="-197520" r="-836"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951028" y="2349087"/>
            <a:ext cx="16155487" cy="72106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760"/>
              </a:lnSpc>
              <a:spcBef>
                <a:spcPct val="0"/>
              </a:spcBef>
            </a:pPr>
            <a:r>
              <a:rPr lang="en-US" sz="4114" b="1" u="sng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Key Points:</a:t>
            </a:r>
          </a:p>
          <a:p>
            <a:pPr algn="l">
              <a:lnSpc>
                <a:spcPts val="5760"/>
              </a:lnSpc>
              <a:spcBef>
                <a:spcPct val="0"/>
              </a:spcBef>
            </a:pPr>
            <a:r>
              <a:rPr lang="en-US" sz="4114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— The U.S. leads, but India is the strongest second in content production.</a:t>
            </a:r>
          </a:p>
          <a:p>
            <a:pPr algn="l">
              <a:lnSpc>
                <a:spcPts val="5760"/>
              </a:lnSpc>
              <a:spcBef>
                <a:spcPct val="0"/>
              </a:spcBef>
            </a:pPr>
            <a:r>
              <a:rPr lang="en-US" sz="4114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— Content production from India has grown exponentially since 2017.</a:t>
            </a:r>
          </a:p>
          <a:p>
            <a:pPr algn="l">
              <a:lnSpc>
                <a:spcPts val="5760"/>
              </a:lnSpc>
              <a:spcBef>
                <a:spcPct val="0"/>
              </a:spcBef>
            </a:pPr>
            <a:endParaRPr lang="en-US" sz="4114">
              <a:solidFill>
                <a:srgbClr val="FFFFFF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algn="l">
              <a:lnSpc>
                <a:spcPts val="5760"/>
              </a:lnSpc>
              <a:spcBef>
                <a:spcPct val="0"/>
              </a:spcBef>
            </a:pPr>
            <a:r>
              <a:rPr lang="en-US" sz="4114" b="1" u="sng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Recommendation:</a:t>
            </a:r>
          </a:p>
          <a:p>
            <a:pPr algn="l">
              <a:lnSpc>
                <a:spcPts val="5760"/>
              </a:lnSpc>
              <a:spcBef>
                <a:spcPct val="0"/>
              </a:spcBef>
            </a:pPr>
            <a:r>
              <a:rPr lang="en-US" sz="4114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— India is the future. Increase funding and marketing for local Indian content to make Netflix the leader in that massive and growing market.</a:t>
            </a:r>
          </a:p>
        </p:txBody>
      </p:sp>
      <p:sp>
        <p:nvSpPr>
          <p:cNvPr id="9" name="Freeform 9"/>
          <p:cNvSpPr/>
          <p:nvPr/>
        </p:nvSpPr>
        <p:spPr>
          <a:xfrm>
            <a:off x="448014" y="585148"/>
            <a:ext cx="13930939" cy="1272227"/>
          </a:xfrm>
          <a:custGeom>
            <a:avLst/>
            <a:gdLst/>
            <a:ahLst/>
            <a:cxnLst/>
            <a:rect l="l" t="t" r="r" b="b"/>
            <a:pathLst>
              <a:path w="13930939" h="1272227">
                <a:moveTo>
                  <a:pt x="0" y="0"/>
                </a:moveTo>
                <a:lnTo>
                  <a:pt x="13930940" y="0"/>
                </a:lnTo>
                <a:lnTo>
                  <a:pt x="13930940" y="1272227"/>
                </a:lnTo>
                <a:lnTo>
                  <a:pt x="0" y="1272227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t="-9564" b="-133617"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448014" y="674693"/>
            <a:ext cx="7562982" cy="9591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508"/>
              </a:lnSpc>
              <a:spcBef>
                <a:spcPct val="0"/>
              </a:spcBef>
            </a:pPr>
            <a:r>
              <a:rPr lang="en-US" sz="5362" b="1" u="sng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Market Focus </a:t>
            </a:r>
          </a:p>
        </p:txBody>
      </p:sp>
      <p:sp>
        <p:nvSpPr>
          <p:cNvPr id="11" name="Freeform 11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-11111" t="-48765" b="-48765"/>
            </a:stretch>
          </a:blipFill>
          <a:ln w="95250" cap="sq">
            <a:solidFill>
              <a:srgbClr val="E50A14"/>
            </a:solidFill>
            <a:prstDash val="solid"/>
            <a:miter/>
          </a:ln>
        </p:spPr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423925" y="2904627"/>
            <a:ext cx="15440150" cy="4477747"/>
          </a:xfrm>
          <a:custGeom>
            <a:avLst/>
            <a:gdLst/>
            <a:ahLst/>
            <a:cxnLst/>
            <a:rect l="l" t="t" r="r" b="b"/>
            <a:pathLst>
              <a:path w="15440150" h="4477747">
                <a:moveTo>
                  <a:pt x="0" y="0"/>
                </a:moveTo>
                <a:lnTo>
                  <a:pt x="15440150" y="0"/>
                </a:lnTo>
                <a:lnTo>
                  <a:pt x="15440150" y="4477746"/>
                </a:lnTo>
                <a:lnTo>
                  <a:pt x="0" y="447774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5000"/>
            </a:blip>
            <a:stretch>
              <a:fillRect t="-41480" b="-88255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7671855" y="8229600"/>
            <a:ext cx="2713834" cy="2057400"/>
          </a:xfrm>
          <a:custGeom>
            <a:avLst/>
            <a:gdLst/>
            <a:ahLst/>
            <a:cxnLst/>
            <a:rect l="l" t="t" r="r" b="b"/>
            <a:pathLst>
              <a:path w="2713834" h="2057400">
                <a:moveTo>
                  <a:pt x="0" y="0"/>
                </a:moveTo>
                <a:lnTo>
                  <a:pt x="2713834" y="0"/>
                </a:lnTo>
                <a:lnTo>
                  <a:pt x="2713834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19999"/>
            </a:blip>
            <a:stretch>
              <a:fillRect l="-235788" t="-400000" r="-233154"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0" y="0"/>
            <a:ext cx="3177858" cy="1857375"/>
          </a:xfrm>
          <a:custGeom>
            <a:avLst/>
            <a:gdLst/>
            <a:ahLst/>
            <a:cxnLst/>
            <a:rect l="l" t="t" r="r" b="b"/>
            <a:pathLst>
              <a:path w="3177858" h="1857375">
                <a:moveTo>
                  <a:pt x="0" y="0"/>
                </a:moveTo>
                <a:lnTo>
                  <a:pt x="3177858" y="0"/>
                </a:lnTo>
                <a:lnTo>
                  <a:pt x="3177858" y="1857375"/>
                </a:lnTo>
                <a:lnTo>
                  <a:pt x="0" y="185737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25000"/>
            </a:blip>
            <a:stretch>
              <a:fillRect l="-41324" r="-344541" b="-453846"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4378954" y="0"/>
            <a:ext cx="3909046" cy="1643062"/>
          </a:xfrm>
          <a:custGeom>
            <a:avLst/>
            <a:gdLst/>
            <a:ahLst/>
            <a:cxnLst/>
            <a:rect l="l" t="t" r="r" b="b"/>
            <a:pathLst>
              <a:path w="3909046" h="1643062">
                <a:moveTo>
                  <a:pt x="0" y="0"/>
                </a:moveTo>
                <a:lnTo>
                  <a:pt x="3909046" y="0"/>
                </a:lnTo>
                <a:lnTo>
                  <a:pt x="3909046" y="1643062"/>
                </a:lnTo>
                <a:lnTo>
                  <a:pt x="0" y="164306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25000"/>
            </a:blip>
            <a:stretch>
              <a:fillRect l="-282445" r="-12539" b="-526086"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0" y="6958012"/>
            <a:ext cx="2151382" cy="3328988"/>
          </a:xfrm>
          <a:custGeom>
            <a:avLst/>
            <a:gdLst/>
            <a:ahLst/>
            <a:cxnLst/>
            <a:rect l="l" t="t" r="r" b="b"/>
            <a:pathLst>
              <a:path w="2151382" h="3328988">
                <a:moveTo>
                  <a:pt x="0" y="0"/>
                </a:moveTo>
                <a:lnTo>
                  <a:pt x="2151382" y="0"/>
                </a:lnTo>
                <a:lnTo>
                  <a:pt x="2151382" y="3328988"/>
                </a:lnTo>
                <a:lnTo>
                  <a:pt x="0" y="332898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10999"/>
            </a:blip>
            <a:stretch>
              <a:fillRect l="-836" t="-209012" r="-616849"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6080373" y="6829425"/>
            <a:ext cx="2207627" cy="3457575"/>
          </a:xfrm>
          <a:custGeom>
            <a:avLst/>
            <a:gdLst/>
            <a:ahLst/>
            <a:cxnLst/>
            <a:rect l="l" t="t" r="r" b="b"/>
            <a:pathLst>
              <a:path w="2207627" h="3457575">
                <a:moveTo>
                  <a:pt x="0" y="0"/>
                </a:moveTo>
                <a:lnTo>
                  <a:pt x="2207627" y="0"/>
                </a:lnTo>
                <a:lnTo>
                  <a:pt x="2207627" y="3457575"/>
                </a:lnTo>
                <a:lnTo>
                  <a:pt x="0" y="3457575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alphaModFix amt="10999"/>
            </a:blip>
            <a:stretch>
              <a:fillRect l="-598564" t="-197520" r="-836"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9439915" y="2445582"/>
            <a:ext cx="8514140" cy="5395836"/>
          </a:xfrm>
          <a:custGeom>
            <a:avLst/>
            <a:gdLst/>
            <a:ahLst/>
            <a:cxnLst/>
            <a:rect l="l" t="t" r="r" b="b"/>
            <a:pathLst>
              <a:path w="8514140" h="5395836">
                <a:moveTo>
                  <a:pt x="0" y="0"/>
                </a:moveTo>
                <a:lnTo>
                  <a:pt x="8514139" y="0"/>
                </a:lnTo>
                <a:lnTo>
                  <a:pt x="8514139" y="5395836"/>
                </a:lnTo>
                <a:lnTo>
                  <a:pt x="0" y="5395836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272943" y="2445582"/>
            <a:ext cx="8581846" cy="5395836"/>
          </a:xfrm>
          <a:custGeom>
            <a:avLst/>
            <a:gdLst/>
            <a:ahLst/>
            <a:cxnLst/>
            <a:rect l="l" t="t" r="r" b="b"/>
            <a:pathLst>
              <a:path w="8581846" h="5395836">
                <a:moveTo>
                  <a:pt x="0" y="0"/>
                </a:moveTo>
                <a:lnTo>
                  <a:pt x="8581847" y="0"/>
                </a:lnTo>
                <a:lnTo>
                  <a:pt x="8581847" y="5395836"/>
                </a:lnTo>
                <a:lnTo>
                  <a:pt x="0" y="5395836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</p:sp>
      <p:sp>
        <p:nvSpPr>
          <p:cNvPr id="10" name="Freeform 11">
            <a:extLst>
              <a:ext uri="{FF2B5EF4-FFF2-40B4-BE49-F238E27FC236}">
                <a16:creationId xmlns:a16="http://schemas.microsoft.com/office/drawing/2014/main" id="{44320C31-BE77-7DEC-7181-D1B82AB3F892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-11111" t="-48765" b="-48765"/>
            </a:stretch>
          </a:blipFill>
          <a:ln w="95250" cap="sq">
            <a:solidFill>
              <a:srgbClr val="E50A14"/>
            </a:solidFill>
            <a:prstDash val="solid"/>
            <a:miter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423925" y="2904627"/>
            <a:ext cx="15440150" cy="4477747"/>
          </a:xfrm>
          <a:custGeom>
            <a:avLst/>
            <a:gdLst/>
            <a:ahLst/>
            <a:cxnLst/>
            <a:rect l="l" t="t" r="r" b="b"/>
            <a:pathLst>
              <a:path w="15440150" h="4477747">
                <a:moveTo>
                  <a:pt x="0" y="0"/>
                </a:moveTo>
                <a:lnTo>
                  <a:pt x="15440150" y="0"/>
                </a:lnTo>
                <a:lnTo>
                  <a:pt x="15440150" y="4477746"/>
                </a:lnTo>
                <a:lnTo>
                  <a:pt x="0" y="447774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5000"/>
            </a:blip>
            <a:stretch>
              <a:fillRect t="-41480" b="-88255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7671855" y="8229600"/>
            <a:ext cx="2713834" cy="2057400"/>
          </a:xfrm>
          <a:custGeom>
            <a:avLst/>
            <a:gdLst/>
            <a:ahLst/>
            <a:cxnLst/>
            <a:rect l="l" t="t" r="r" b="b"/>
            <a:pathLst>
              <a:path w="2713834" h="2057400">
                <a:moveTo>
                  <a:pt x="0" y="0"/>
                </a:moveTo>
                <a:lnTo>
                  <a:pt x="2713834" y="0"/>
                </a:lnTo>
                <a:lnTo>
                  <a:pt x="2713834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19999"/>
            </a:blip>
            <a:stretch>
              <a:fillRect l="-235788" t="-400000" r="-233154"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0" y="0"/>
            <a:ext cx="3177858" cy="1857375"/>
          </a:xfrm>
          <a:custGeom>
            <a:avLst/>
            <a:gdLst/>
            <a:ahLst/>
            <a:cxnLst/>
            <a:rect l="l" t="t" r="r" b="b"/>
            <a:pathLst>
              <a:path w="3177858" h="1857375">
                <a:moveTo>
                  <a:pt x="0" y="0"/>
                </a:moveTo>
                <a:lnTo>
                  <a:pt x="3177858" y="0"/>
                </a:lnTo>
                <a:lnTo>
                  <a:pt x="3177858" y="1857375"/>
                </a:lnTo>
                <a:lnTo>
                  <a:pt x="0" y="185737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25000"/>
            </a:blip>
            <a:stretch>
              <a:fillRect l="-41324" r="-344541" b="-453846"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4378954" y="0"/>
            <a:ext cx="3909046" cy="1643062"/>
          </a:xfrm>
          <a:custGeom>
            <a:avLst/>
            <a:gdLst/>
            <a:ahLst/>
            <a:cxnLst/>
            <a:rect l="l" t="t" r="r" b="b"/>
            <a:pathLst>
              <a:path w="3909046" h="1643062">
                <a:moveTo>
                  <a:pt x="0" y="0"/>
                </a:moveTo>
                <a:lnTo>
                  <a:pt x="3909046" y="0"/>
                </a:lnTo>
                <a:lnTo>
                  <a:pt x="3909046" y="1643062"/>
                </a:lnTo>
                <a:lnTo>
                  <a:pt x="0" y="164306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25000"/>
            </a:blip>
            <a:stretch>
              <a:fillRect l="-282445" r="-12539" b="-526086"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0" y="6958012"/>
            <a:ext cx="2151382" cy="3328988"/>
          </a:xfrm>
          <a:custGeom>
            <a:avLst/>
            <a:gdLst/>
            <a:ahLst/>
            <a:cxnLst/>
            <a:rect l="l" t="t" r="r" b="b"/>
            <a:pathLst>
              <a:path w="2151382" h="3328988">
                <a:moveTo>
                  <a:pt x="0" y="0"/>
                </a:moveTo>
                <a:lnTo>
                  <a:pt x="2151382" y="0"/>
                </a:lnTo>
                <a:lnTo>
                  <a:pt x="2151382" y="3328988"/>
                </a:lnTo>
                <a:lnTo>
                  <a:pt x="0" y="332898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10999"/>
            </a:blip>
            <a:stretch>
              <a:fillRect l="-836" t="-209012" r="-616849"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6080373" y="6829425"/>
            <a:ext cx="2207627" cy="3457575"/>
          </a:xfrm>
          <a:custGeom>
            <a:avLst/>
            <a:gdLst/>
            <a:ahLst/>
            <a:cxnLst/>
            <a:rect l="l" t="t" r="r" b="b"/>
            <a:pathLst>
              <a:path w="2207627" h="3457575">
                <a:moveTo>
                  <a:pt x="0" y="0"/>
                </a:moveTo>
                <a:lnTo>
                  <a:pt x="2207627" y="0"/>
                </a:lnTo>
                <a:lnTo>
                  <a:pt x="2207627" y="3457575"/>
                </a:lnTo>
                <a:lnTo>
                  <a:pt x="0" y="3457575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alphaModFix amt="10999"/>
            </a:blip>
            <a:stretch>
              <a:fillRect l="-598564" t="-197520" r="-836"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448014" y="585148"/>
            <a:ext cx="13930939" cy="1272227"/>
          </a:xfrm>
          <a:custGeom>
            <a:avLst/>
            <a:gdLst/>
            <a:ahLst/>
            <a:cxnLst/>
            <a:rect l="l" t="t" r="r" b="b"/>
            <a:pathLst>
              <a:path w="13930939" h="1272227">
                <a:moveTo>
                  <a:pt x="0" y="0"/>
                </a:moveTo>
                <a:lnTo>
                  <a:pt x="13930940" y="0"/>
                </a:lnTo>
                <a:lnTo>
                  <a:pt x="13930940" y="1272227"/>
                </a:lnTo>
                <a:lnTo>
                  <a:pt x="0" y="1272227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t="-9564" b="-133617"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2151382" y="683907"/>
            <a:ext cx="4629031" cy="9591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508"/>
              </a:lnSpc>
              <a:spcBef>
                <a:spcPct val="0"/>
              </a:spcBef>
            </a:pPr>
            <a:r>
              <a:rPr lang="en-US" sz="5362" b="1" u="sng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Release Timing 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913472" y="2312061"/>
            <a:ext cx="16703455" cy="71680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060"/>
              </a:lnSpc>
              <a:spcBef>
                <a:spcPct val="0"/>
              </a:spcBef>
            </a:pPr>
            <a:r>
              <a:rPr lang="en-US" sz="5043" b="1" u="sng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Key Points:</a:t>
            </a:r>
          </a:p>
          <a:p>
            <a:pPr algn="l">
              <a:lnSpc>
                <a:spcPts val="7060"/>
              </a:lnSpc>
              <a:spcBef>
                <a:spcPct val="0"/>
              </a:spcBef>
            </a:pPr>
            <a:r>
              <a:rPr lang="en-US" sz="5043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— Content additions are highest in December, with October and November also very strong.</a:t>
            </a:r>
          </a:p>
          <a:p>
            <a:pPr algn="l">
              <a:lnSpc>
                <a:spcPts val="7060"/>
              </a:lnSpc>
              <a:spcBef>
                <a:spcPct val="0"/>
              </a:spcBef>
            </a:pPr>
            <a:endParaRPr lang="en-US" sz="5043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algn="l">
              <a:lnSpc>
                <a:spcPts val="7060"/>
              </a:lnSpc>
              <a:spcBef>
                <a:spcPct val="0"/>
              </a:spcBef>
            </a:pPr>
            <a:r>
              <a:rPr lang="en-US" sz="5043" b="1" u="sng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Recommendation:</a:t>
            </a:r>
          </a:p>
          <a:p>
            <a:pPr algn="l">
              <a:lnSpc>
                <a:spcPts val="7060"/>
              </a:lnSpc>
              <a:spcBef>
                <a:spcPct val="0"/>
              </a:spcBef>
            </a:pPr>
            <a:r>
              <a:rPr lang="en-US" sz="5043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— This timing is smart. Always launch the biggest shows and movies in October, November, and December, as that is when people are watching the most.</a:t>
            </a:r>
          </a:p>
        </p:txBody>
      </p:sp>
      <p:sp>
        <p:nvSpPr>
          <p:cNvPr id="11" name="Freeform 11">
            <a:extLst>
              <a:ext uri="{FF2B5EF4-FFF2-40B4-BE49-F238E27FC236}">
                <a16:creationId xmlns:a16="http://schemas.microsoft.com/office/drawing/2014/main" id="{23090C54-E14F-03A4-D9E3-64F94951B5ED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-11111" t="-48765" b="-48765"/>
            </a:stretch>
          </a:blipFill>
          <a:ln w="95250" cap="sq">
            <a:solidFill>
              <a:srgbClr val="E50A14"/>
            </a:solidFill>
            <a:prstDash val="solid"/>
            <a:miter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423925" y="2904627"/>
            <a:ext cx="15440150" cy="4477747"/>
          </a:xfrm>
          <a:custGeom>
            <a:avLst/>
            <a:gdLst/>
            <a:ahLst/>
            <a:cxnLst/>
            <a:rect l="l" t="t" r="r" b="b"/>
            <a:pathLst>
              <a:path w="15440150" h="4477747">
                <a:moveTo>
                  <a:pt x="0" y="0"/>
                </a:moveTo>
                <a:lnTo>
                  <a:pt x="15440150" y="0"/>
                </a:lnTo>
                <a:lnTo>
                  <a:pt x="15440150" y="4477746"/>
                </a:lnTo>
                <a:lnTo>
                  <a:pt x="0" y="447774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5000"/>
            </a:blip>
            <a:stretch>
              <a:fillRect t="-41480" b="-88255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7671855" y="8229600"/>
            <a:ext cx="2713834" cy="2057400"/>
          </a:xfrm>
          <a:custGeom>
            <a:avLst/>
            <a:gdLst/>
            <a:ahLst/>
            <a:cxnLst/>
            <a:rect l="l" t="t" r="r" b="b"/>
            <a:pathLst>
              <a:path w="2713834" h="2057400">
                <a:moveTo>
                  <a:pt x="0" y="0"/>
                </a:moveTo>
                <a:lnTo>
                  <a:pt x="2713834" y="0"/>
                </a:lnTo>
                <a:lnTo>
                  <a:pt x="2713834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19999"/>
            </a:blip>
            <a:stretch>
              <a:fillRect l="-235788" t="-400000" r="-233154"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0" y="0"/>
            <a:ext cx="3177858" cy="1857375"/>
          </a:xfrm>
          <a:custGeom>
            <a:avLst/>
            <a:gdLst/>
            <a:ahLst/>
            <a:cxnLst/>
            <a:rect l="l" t="t" r="r" b="b"/>
            <a:pathLst>
              <a:path w="3177858" h="1857375">
                <a:moveTo>
                  <a:pt x="0" y="0"/>
                </a:moveTo>
                <a:lnTo>
                  <a:pt x="3177858" y="0"/>
                </a:lnTo>
                <a:lnTo>
                  <a:pt x="3177858" y="1857375"/>
                </a:lnTo>
                <a:lnTo>
                  <a:pt x="0" y="185737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25000"/>
            </a:blip>
            <a:stretch>
              <a:fillRect l="-41324" r="-344541" b="-453846"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4378954" y="0"/>
            <a:ext cx="3909046" cy="1643062"/>
          </a:xfrm>
          <a:custGeom>
            <a:avLst/>
            <a:gdLst/>
            <a:ahLst/>
            <a:cxnLst/>
            <a:rect l="l" t="t" r="r" b="b"/>
            <a:pathLst>
              <a:path w="3909046" h="1643062">
                <a:moveTo>
                  <a:pt x="0" y="0"/>
                </a:moveTo>
                <a:lnTo>
                  <a:pt x="3909046" y="0"/>
                </a:lnTo>
                <a:lnTo>
                  <a:pt x="3909046" y="1643062"/>
                </a:lnTo>
                <a:lnTo>
                  <a:pt x="0" y="164306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25000"/>
            </a:blip>
            <a:stretch>
              <a:fillRect l="-282445" r="-12539" b="-526086"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0" y="6958012"/>
            <a:ext cx="2151382" cy="3328988"/>
          </a:xfrm>
          <a:custGeom>
            <a:avLst/>
            <a:gdLst/>
            <a:ahLst/>
            <a:cxnLst/>
            <a:rect l="l" t="t" r="r" b="b"/>
            <a:pathLst>
              <a:path w="2151382" h="3328988">
                <a:moveTo>
                  <a:pt x="0" y="0"/>
                </a:moveTo>
                <a:lnTo>
                  <a:pt x="2151382" y="0"/>
                </a:lnTo>
                <a:lnTo>
                  <a:pt x="2151382" y="3328988"/>
                </a:lnTo>
                <a:lnTo>
                  <a:pt x="0" y="332898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10999"/>
            </a:blip>
            <a:stretch>
              <a:fillRect l="-836" t="-209012" r="-616849"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6080373" y="6829425"/>
            <a:ext cx="2207627" cy="3457575"/>
          </a:xfrm>
          <a:custGeom>
            <a:avLst/>
            <a:gdLst/>
            <a:ahLst/>
            <a:cxnLst/>
            <a:rect l="l" t="t" r="r" b="b"/>
            <a:pathLst>
              <a:path w="2207627" h="3457575">
                <a:moveTo>
                  <a:pt x="0" y="0"/>
                </a:moveTo>
                <a:lnTo>
                  <a:pt x="2207627" y="0"/>
                </a:lnTo>
                <a:lnTo>
                  <a:pt x="2207627" y="3457575"/>
                </a:lnTo>
                <a:lnTo>
                  <a:pt x="0" y="3457575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alphaModFix amt="10999"/>
            </a:blip>
            <a:stretch>
              <a:fillRect l="-598564" t="-197520" r="-836"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2552109" y="1105967"/>
            <a:ext cx="13183782" cy="8075067"/>
          </a:xfrm>
          <a:custGeom>
            <a:avLst/>
            <a:gdLst/>
            <a:ahLst/>
            <a:cxnLst/>
            <a:rect l="l" t="t" r="r" b="b"/>
            <a:pathLst>
              <a:path w="13183782" h="8075067">
                <a:moveTo>
                  <a:pt x="0" y="0"/>
                </a:moveTo>
                <a:lnTo>
                  <a:pt x="13183782" y="0"/>
                </a:lnTo>
                <a:lnTo>
                  <a:pt x="13183782" y="8075066"/>
                </a:lnTo>
                <a:lnTo>
                  <a:pt x="0" y="8075066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-11111" t="-48765" b="-48765"/>
            </a:stretch>
          </a:blipFill>
          <a:ln w="95250" cap="sq">
            <a:solidFill>
              <a:srgbClr val="E50A14"/>
            </a:solidFill>
            <a:prstDash val="solid"/>
            <a:miter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423925" y="2904627"/>
            <a:ext cx="15440150" cy="4477747"/>
          </a:xfrm>
          <a:custGeom>
            <a:avLst/>
            <a:gdLst/>
            <a:ahLst/>
            <a:cxnLst/>
            <a:rect l="l" t="t" r="r" b="b"/>
            <a:pathLst>
              <a:path w="15440150" h="4477747">
                <a:moveTo>
                  <a:pt x="0" y="0"/>
                </a:moveTo>
                <a:lnTo>
                  <a:pt x="15440150" y="0"/>
                </a:lnTo>
                <a:lnTo>
                  <a:pt x="15440150" y="4477746"/>
                </a:lnTo>
                <a:lnTo>
                  <a:pt x="0" y="447774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5000"/>
            </a:blip>
            <a:stretch>
              <a:fillRect t="-41480" b="-88255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7671855" y="8229600"/>
            <a:ext cx="2713834" cy="2057400"/>
          </a:xfrm>
          <a:custGeom>
            <a:avLst/>
            <a:gdLst/>
            <a:ahLst/>
            <a:cxnLst/>
            <a:rect l="l" t="t" r="r" b="b"/>
            <a:pathLst>
              <a:path w="2713834" h="2057400">
                <a:moveTo>
                  <a:pt x="0" y="0"/>
                </a:moveTo>
                <a:lnTo>
                  <a:pt x="2713834" y="0"/>
                </a:lnTo>
                <a:lnTo>
                  <a:pt x="2713834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19999"/>
            </a:blip>
            <a:stretch>
              <a:fillRect l="-235788" t="-400000" r="-233154"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0" y="0"/>
            <a:ext cx="3177858" cy="1857375"/>
          </a:xfrm>
          <a:custGeom>
            <a:avLst/>
            <a:gdLst/>
            <a:ahLst/>
            <a:cxnLst/>
            <a:rect l="l" t="t" r="r" b="b"/>
            <a:pathLst>
              <a:path w="3177858" h="1857375">
                <a:moveTo>
                  <a:pt x="0" y="0"/>
                </a:moveTo>
                <a:lnTo>
                  <a:pt x="3177858" y="0"/>
                </a:lnTo>
                <a:lnTo>
                  <a:pt x="3177858" y="1857375"/>
                </a:lnTo>
                <a:lnTo>
                  <a:pt x="0" y="185737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25000"/>
            </a:blip>
            <a:stretch>
              <a:fillRect l="-41324" r="-344541" b="-453846"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4378954" y="0"/>
            <a:ext cx="3909046" cy="1643062"/>
          </a:xfrm>
          <a:custGeom>
            <a:avLst/>
            <a:gdLst/>
            <a:ahLst/>
            <a:cxnLst/>
            <a:rect l="l" t="t" r="r" b="b"/>
            <a:pathLst>
              <a:path w="3909046" h="1643062">
                <a:moveTo>
                  <a:pt x="0" y="0"/>
                </a:moveTo>
                <a:lnTo>
                  <a:pt x="3909046" y="0"/>
                </a:lnTo>
                <a:lnTo>
                  <a:pt x="3909046" y="1643062"/>
                </a:lnTo>
                <a:lnTo>
                  <a:pt x="0" y="164306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25000"/>
            </a:blip>
            <a:stretch>
              <a:fillRect l="-282445" r="-12539" b="-526086"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0" y="6958012"/>
            <a:ext cx="2151382" cy="3328988"/>
          </a:xfrm>
          <a:custGeom>
            <a:avLst/>
            <a:gdLst/>
            <a:ahLst/>
            <a:cxnLst/>
            <a:rect l="l" t="t" r="r" b="b"/>
            <a:pathLst>
              <a:path w="2151382" h="3328988">
                <a:moveTo>
                  <a:pt x="0" y="0"/>
                </a:moveTo>
                <a:lnTo>
                  <a:pt x="2151382" y="0"/>
                </a:lnTo>
                <a:lnTo>
                  <a:pt x="2151382" y="3328988"/>
                </a:lnTo>
                <a:lnTo>
                  <a:pt x="0" y="332898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10999"/>
            </a:blip>
            <a:stretch>
              <a:fillRect l="-836" t="-209012" r="-616849"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6080373" y="6829425"/>
            <a:ext cx="2207627" cy="3457575"/>
          </a:xfrm>
          <a:custGeom>
            <a:avLst/>
            <a:gdLst/>
            <a:ahLst/>
            <a:cxnLst/>
            <a:rect l="l" t="t" r="r" b="b"/>
            <a:pathLst>
              <a:path w="2207627" h="3457575">
                <a:moveTo>
                  <a:pt x="0" y="0"/>
                </a:moveTo>
                <a:lnTo>
                  <a:pt x="2207627" y="0"/>
                </a:lnTo>
                <a:lnTo>
                  <a:pt x="2207627" y="3457575"/>
                </a:lnTo>
                <a:lnTo>
                  <a:pt x="0" y="3457575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alphaModFix amt="10999"/>
            </a:blip>
            <a:stretch>
              <a:fillRect l="-598564" t="-197520" r="-836"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1028700" y="2445859"/>
            <a:ext cx="16155487" cy="73290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228"/>
              </a:lnSpc>
              <a:spcBef>
                <a:spcPct val="0"/>
              </a:spcBef>
            </a:pPr>
            <a:r>
              <a:rPr lang="en-US" sz="5163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1. </a:t>
            </a:r>
            <a:r>
              <a:rPr lang="en-US" sz="5163" b="1" u="sng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Content Mix</a:t>
            </a:r>
            <a:r>
              <a:rPr lang="en-US" sz="5163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Balance out the Movies by making more TV Shows.</a:t>
            </a:r>
          </a:p>
          <a:p>
            <a:pPr algn="l">
              <a:lnSpc>
                <a:spcPts val="7228"/>
              </a:lnSpc>
              <a:spcBef>
                <a:spcPct val="0"/>
              </a:spcBef>
            </a:pPr>
            <a:r>
              <a:rPr lang="en-US" sz="5163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2. </a:t>
            </a:r>
            <a:r>
              <a:rPr lang="en-US" sz="5163" b="1" u="sng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Market Focus</a:t>
            </a:r>
            <a:r>
              <a:rPr lang="en-US" sz="5163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India is the biggest growth area—invest there.</a:t>
            </a:r>
          </a:p>
          <a:p>
            <a:pPr algn="l">
              <a:lnSpc>
                <a:spcPts val="7228"/>
              </a:lnSpc>
              <a:spcBef>
                <a:spcPct val="0"/>
              </a:spcBef>
            </a:pPr>
            <a:r>
              <a:rPr lang="en-US" sz="5163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3. </a:t>
            </a:r>
            <a:r>
              <a:rPr lang="en-US" sz="5163" b="1" u="sng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Audience</a:t>
            </a:r>
            <a:r>
              <a:rPr lang="en-US" sz="5163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Continue to make content for the Adult/TV-MA audience.</a:t>
            </a:r>
          </a:p>
          <a:p>
            <a:pPr algn="l">
              <a:lnSpc>
                <a:spcPts val="7228"/>
              </a:lnSpc>
              <a:spcBef>
                <a:spcPct val="0"/>
              </a:spcBef>
            </a:pPr>
            <a:r>
              <a:rPr lang="en-US" sz="5163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4. </a:t>
            </a:r>
            <a:r>
              <a:rPr lang="en-US" sz="5163" b="1" u="sng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Timing</a:t>
            </a:r>
            <a:r>
              <a:rPr lang="en-US" sz="5163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Always launch your biggest titles at the end of the year (October - December).</a:t>
            </a:r>
          </a:p>
        </p:txBody>
      </p:sp>
      <p:sp>
        <p:nvSpPr>
          <p:cNvPr id="9" name="Freeform 9"/>
          <p:cNvSpPr/>
          <p:nvPr/>
        </p:nvSpPr>
        <p:spPr>
          <a:xfrm>
            <a:off x="149759" y="585148"/>
            <a:ext cx="18678164" cy="1272227"/>
          </a:xfrm>
          <a:custGeom>
            <a:avLst/>
            <a:gdLst/>
            <a:ahLst/>
            <a:cxnLst/>
            <a:rect l="l" t="t" r="r" b="b"/>
            <a:pathLst>
              <a:path w="18678164" h="1272227">
                <a:moveTo>
                  <a:pt x="0" y="0"/>
                </a:moveTo>
                <a:lnTo>
                  <a:pt x="18678165" y="0"/>
                </a:lnTo>
                <a:lnTo>
                  <a:pt x="18678165" y="1272227"/>
                </a:lnTo>
                <a:lnTo>
                  <a:pt x="0" y="1272227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t="-29861" b="-196189"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1886780" y="670246"/>
            <a:ext cx="6206459" cy="9591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508"/>
              </a:lnSpc>
              <a:spcBef>
                <a:spcPct val="0"/>
              </a:spcBef>
            </a:pPr>
            <a:r>
              <a:rPr lang="en-US" sz="5362" b="1" u="sng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The 4 Big Takeaways</a:t>
            </a:r>
          </a:p>
        </p:txBody>
      </p:sp>
      <p:sp>
        <p:nvSpPr>
          <p:cNvPr id="11" name="Freeform 11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-11111" t="-48765" b="-48765"/>
            </a:stretch>
          </a:blipFill>
          <a:ln w="95250" cap="sq">
            <a:solidFill>
              <a:srgbClr val="E50A14"/>
            </a:solidFill>
            <a:prstDash val="solid"/>
            <a:miter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423925" y="2904627"/>
            <a:ext cx="15440150" cy="4477747"/>
          </a:xfrm>
          <a:custGeom>
            <a:avLst/>
            <a:gdLst/>
            <a:ahLst/>
            <a:cxnLst/>
            <a:rect l="l" t="t" r="r" b="b"/>
            <a:pathLst>
              <a:path w="15440150" h="4477747">
                <a:moveTo>
                  <a:pt x="0" y="0"/>
                </a:moveTo>
                <a:lnTo>
                  <a:pt x="15440150" y="0"/>
                </a:lnTo>
                <a:lnTo>
                  <a:pt x="15440150" y="4477746"/>
                </a:lnTo>
                <a:lnTo>
                  <a:pt x="0" y="447774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5000"/>
            </a:blip>
            <a:stretch>
              <a:fillRect t="-41480" b="-88255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7671855" y="8229600"/>
            <a:ext cx="2713834" cy="2057400"/>
          </a:xfrm>
          <a:custGeom>
            <a:avLst/>
            <a:gdLst/>
            <a:ahLst/>
            <a:cxnLst/>
            <a:rect l="l" t="t" r="r" b="b"/>
            <a:pathLst>
              <a:path w="2713834" h="2057400">
                <a:moveTo>
                  <a:pt x="0" y="0"/>
                </a:moveTo>
                <a:lnTo>
                  <a:pt x="2713834" y="0"/>
                </a:lnTo>
                <a:lnTo>
                  <a:pt x="2713834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19999"/>
            </a:blip>
            <a:stretch>
              <a:fillRect l="-235788" t="-400000" r="-233154"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478190" y="585148"/>
            <a:ext cx="12111234" cy="1272227"/>
          </a:xfrm>
          <a:custGeom>
            <a:avLst/>
            <a:gdLst/>
            <a:ahLst/>
            <a:cxnLst/>
            <a:rect l="l" t="t" r="r" b="b"/>
            <a:pathLst>
              <a:path w="12111234" h="1272227">
                <a:moveTo>
                  <a:pt x="0" y="0"/>
                </a:moveTo>
                <a:lnTo>
                  <a:pt x="12111234" y="0"/>
                </a:lnTo>
                <a:lnTo>
                  <a:pt x="12111234" y="1272227"/>
                </a:lnTo>
                <a:lnTo>
                  <a:pt x="0" y="127222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t="-20625" r="-6520" b="-104576"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0" y="0"/>
            <a:ext cx="3177858" cy="1857375"/>
          </a:xfrm>
          <a:custGeom>
            <a:avLst/>
            <a:gdLst/>
            <a:ahLst/>
            <a:cxnLst/>
            <a:rect l="l" t="t" r="r" b="b"/>
            <a:pathLst>
              <a:path w="3177858" h="1857375">
                <a:moveTo>
                  <a:pt x="0" y="0"/>
                </a:moveTo>
                <a:lnTo>
                  <a:pt x="3177858" y="0"/>
                </a:lnTo>
                <a:lnTo>
                  <a:pt x="3177858" y="1857375"/>
                </a:lnTo>
                <a:lnTo>
                  <a:pt x="0" y="185737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25000"/>
            </a:blip>
            <a:stretch>
              <a:fillRect l="-41324" r="-344541" b="-453846"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4378954" y="0"/>
            <a:ext cx="3909046" cy="1643062"/>
          </a:xfrm>
          <a:custGeom>
            <a:avLst/>
            <a:gdLst/>
            <a:ahLst/>
            <a:cxnLst/>
            <a:rect l="l" t="t" r="r" b="b"/>
            <a:pathLst>
              <a:path w="3909046" h="1643062">
                <a:moveTo>
                  <a:pt x="0" y="0"/>
                </a:moveTo>
                <a:lnTo>
                  <a:pt x="3909046" y="0"/>
                </a:lnTo>
                <a:lnTo>
                  <a:pt x="3909046" y="1643062"/>
                </a:lnTo>
                <a:lnTo>
                  <a:pt x="0" y="164306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25000"/>
            </a:blip>
            <a:stretch>
              <a:fillRect l="-282445" r="-12539" b="-526086"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0" y="6958012"/>
            <a:ext cx="2151382" cy="3328988"/>
          </a:xfrm>
          <a:custGeom>
            <a:avLst/>
            <a:gdLst/>
            <a:ahLst/>
            <a:cxnLst/>
            <a:rect l="l" t="t" r="r" b="b"/>
            <a:pathLst>
              <a:path w="2151382" h="3328988">
                <a:moveTo>
                  <a:pt x="0" y="0"/>
                </a:moveTo>
                <a:lnTo>
                  <a:pt x="2151382" y="0"/>
                </a:lnTo>
                <a:lnTo>
                  <a:pt x="2151382" y="3328988"/>
                </a:lnTo>
                <a:lnTo>
                  <a:pt x="0" y="3328988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alphaModFix amt="10999"/>
            </a:blip>
            <a:stretch>
              <a:fillRect l="-836" t="-209012" r="-616849"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16080373" y="6829425"/>
            <a:ext cx="2207627" cy="3457575"/>
          </a:xfrm>
          <a:custGeom>
            <a:avLst/>
            <a:gdLst/>
            <a:ahLst/>
            <a:cxnLst/>
            <a:rect l="l" t="t" r="r" b="b"/>
            <a:pathLst>
              <a:path w="2207627" h="3457575">
                <a:moveTo>
                  <a:pt x="0" y="0"/>
                </a:moveTo>
                <a:lnTo>
                  <a:pt x="2207627" y="0"/>
                </a:lnTo>
                <a:lnTo>
                  <a:pt x="2207627" y="3457575"/>
                </a:lnTo>
                <a:lnTo>
                  <a:pt x="0" y="345757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alphaModFix amt="10999"/>
            </a:blip>
            <a:stretch>
              <a:fillRect l="-598564" t="-197520" r="-836"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1998699" y="670246"/>
            <a:ext cx="3255169" cy="9591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508"/>
              </a:lnSpc>
              <a:spcBef>
                <a:spcPct val="0"/>
              </a:spcBef>
            </a:pPr>
            <a:r>
              <a:rPr lang="en-US" sz="5362" b="1" u="sng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Conclusion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893327" y="2517128"/>
            <a:ext cx="15440150" cy="28641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508"/>
              </a:lnSpc>
              <a:spcBef>
                <a:spcPct val="0"/>
              </a:spcBef>
            </a:pPr>
            <a:r>
              <a:rPr lang="en-US" sz="5362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We can now use these data-backed ideas to build a smarter content budget and marketing strategy for next year.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893327" y="6318424"/>
            <a:ext cx="11865825" cy="7320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770"/>
              </a:lnSpc>
              <a:spcBef>
                <a:spcPct val="0"/>
              </a:spcBef>
            </a:pPr>
            <a:r>
              <a:rPr lang="en-US" sz="4121" u="sng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Google Colab Link: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6058298" y="6083923"/>
            <a:ext cx="10022075" cy="12201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873"/>
              </a:lnSpc>
              <a:spcBef>
                <a:spcPct val="0"/>
              </a:spcBef>
            </a:pPr>
            <a:r>
              <a:rPr lang="en-US" sz="3481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9" tooltip="https://colab.research.google.com/drive/1zt7uZJd0fQja4LL10oVrIg6fLCu7_SO0#scrollTo=emp6v86ThepL"/>
              </a:rPr>
              <a:t>https://colab.research.google.com/drive/1zt7uZJd0fQja4LL10oVrIg6fLCu7_SO0#scrollTo=emp6v86ThepL</a:t>
            </a:r>
          </a:p>
        </p:txBody>
      </p:sp>
      <p:sp>
        <p:nvSpPr>
          <p:cNvPr id="13" name="Freeform 13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-11111" t="-48765" b="-48765"/>
            </a:stretch>
          </a:blipFill>
          <a:ln w="95250" cap="sq">
            <a:solidFill>
              <a:srgbClr val="E50A14"/>
            </a:solidFill>
            <a:prstDash val="solid"/>
            <a:miter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423925" y="2904627"/>
            <a:ext cx="15440150" cy="4477747"/>
          </a:xfrm>
          <a:custGeom>
            <a:avLst/>
            <a:gdLst/>
            <a:ahLst/>
            <a:cxnLst/>
            <a:rect l="l" t="t" r="r" b="b"/>
            <a:pathLst>
              <a:path w="15440150" h="4477747">
                <a:moveTo>
                  <a:pt x="0" y="0"/>
                </a:moveTo>
                <a:lnTo>
                  <a:pt x="15440150" y="0"/>
                </a:lnTo>
                <a:lnTo>
                  <a:pt x="15440150" y="4477746"/>
                </a:lnTo>
                <a:lnTo>
                  <a:pt x="0" y="447774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5000"/>
            </a:blip>
            <a:stretch>
              <a:fillRect t="-41480" b="-88255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7671855" y="8229600"/>
            <a:ext cx="2713834" cy="2057400"/>
          </a:xfrm>
          <a:custGeom>
            <a:avLst/>
            <a:gdLst/>
            <a:ahLst/>
            <a:cxnLst/>
            <a:rect l="l" t="t" r="r" b="b"/>
            <a:pathLst>
              <a:path w="2713834" h="2057400">
                <a:moveTo>
                  <a:pt x="0" y="0"/>
                </a:moveTo>
                <a:lnTo>
                  <a:pt x="2713834" y="0"/>
                </a:lnTo>
                <a:lnTo>
                  <a:pt x="2713834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19999"/>
            </a:blip>
            <a:stretch>
              <a:fillRect l="-235788" t="-400000" r="-233154"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0" y="0"/>
            <a:ext cx="3177858" cy="1857375"/>
          </a:xfrm>
          <a:custGeom>
            <a:avLst/>
            <a:gdLst/>
            <a:ahLst/>
            <a:cxnLst/>
            <a:rect l="l" t="t" r="r" b="b"/>
            <a:pathLst>
              <a:path w="3177858" h="1857375">
                <a:moveTo>
                  <a:pt x="0" y="0"/>
                </a:moveTo>
                <a:lnTo>
                  <a:pt x="3177858" y="0"/>
                </a:lnTo>
                <a:lnTo>
                  <a:pt x="3177858" y="1857375"/>
                </a:lnTo>
                <a:lnTo>
                  <a:pt x="0" y="185737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25000"/>
            </a:blip>
            <a:stretch>
              <a:fillRect l="-41324" r="-344541" b="-453846"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4378954" y="0"/>
            <a:ext cx="3909046" cy="1643062"/>
          </a:xfrm>
          <a:custGeom>
            <a:avLst/>
            <a:gdLst/>
            <a:ahLst/>
            <a:cxnLst/>
            <a:rect l="l" t="t" r="r" b="b"/>
            <a:pathLst>
              <a:path w="3909046" h="1643062">
                <a:moveTo>
                  <a:pt x="0" y="0"/>
                </a:moveTo>
                <a:lnTo>
                  <a:pt x="3909046" y="0"/>
                </a:lnTo>
                <a:lnTo>
                  <a:pt x="3909046" y="1643062"/>
                </a:lnTo>
                <a:lnTo>
                  <a:pt x="0" y="164306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25000"/>
            </a:blip>
            <a:stretch>
              <a:fillRect l="-282445" r="-12539" b="-526086"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0" y="6958012"/>
            <a:ext cx="2151382" cy="3328988"/>
          </a:xfrm>
          <a:custGeom>
            <a:avLst/>
            <a:gdLst/>
            <a:ahLst/>
            <a:cxnLst/>
            <a:rect l="l" t="t" r="r" b="b"/>
            <a:pathLst>
              <a:path w="2151382" h="3328988">
                <a:moveTo>
                  <a:pt x="0" y="0"/>
                </a:moveTo>
                <a:lnTo>
                  <a:pt x="2151382" y="0"/>
                </a:lnTo>
                <a:lnTo>
                  <a:pt x="2151382" y="3328988"/>
                </a:lnTo>
                <a:lnTo>
                  <a:pt x="0" y="332898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10999"/>
            </a:blip>
            <a:stretch>
              <a:fillRect l="-836" t="-209012" r="-616849"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6080373" y="6829425"/>
            <a:ext cx="2207627" cy="3457575"/>
          </a:xfrm>
          <a:custGeom>
            <a:avLst/>
            <a:gdLst/>
            <a:ahLst/>
            <a:cxnLst/>
            <a:rect l="l" t="t" r="r" b="b"/>
            <a:pathLst>
              <a:path w="2207627" h="3457575">
                <a:moveTo>
                  <a:pt x="0" y="0"/>
                </a:moveTo>
                <a:lnTo>
                  <a:pt x="2207627" y="0"/>
                </a:lnTo>
                <a:lnTo>
                  <a:pt x="2207627" y="3457575"/>
                </a:lnTo>
                <a:lnTo>
                  <a:pt x="0" y="3457575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alphaModFix amt="10999"/>
            </a:blip>
            <a:stretch>
              <a:fillRect l="-598564" t="-197520" r="-836"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1661661" y="3802846"/>
            <a:ext cx="14964678" cy="23574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705"/>
              </a:lnSpc>
              <a:spcBef>
                <a:spcPct val="0"/>
              </a:spcBef>
            </a:pPr>
            <a:r>
              <a:rPr lang="en-US" sz="13360">
                <a:solidFill>
                  <a:srgbClr val="FFFFF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THANK YOU!!!</a:t>
            </a:r>
          </a:p>
        </p:txBody>
      </p:sp>
      <p:sp>
        <p:nvSpPr>
          <p:cNvPr id="9" name="Freeform 9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-11111" t="-48765" b="-48765"/>
            </a:stretch>
          </a:blipFill>
          <a:ln w="95250" cap="sq">
            <a:solidFill>
              <a:srgbClr val="E50A14"/>
            </a:solidFill>
            <a:prstDash val="solid"/>
            <a:miter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638</Words>
  <Application>Microsoft Office PowerPoint</Application>
  <PresentationFormat>Custom</PresentationFormat>
  <Paragraphs>70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6" baseType="lpstr">
      <vt:lpstr>Times New Roman</vt:lpstr>
      <vt:lpstr>Calistoga</vt:lpstr>
      <vt:lpstr>Times New Roman Bold</vt:lpstr>
      <vt:lpstr>Arial</vt:lpstr>
      <vt:lpstr>Calibri</vt:lpstr>
      <vt:lpstr>Canva Sans Bold</vt:lpstr>
      <vt:lpstr>Canva Sans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Google Developer Groups</dc:title>
  <cp:lastModifiedBy>SHAGUN</cp:lastModifiedBy>
  <cp:revision>3</cp:revision>
  <dcterms:created xsi:type="dcterms:W3CDTF">2006-08-16T00:00:00Z</dcterms:created>
  <dcterms:modified xsi:type="dcterms:W3CDTF">2025-11-20T19:17:30Z</dcterms:modified>
  <dc:identifier>DAG5DHrN8Qc</dc:identifier>
</cp:coreProperties>
</file>